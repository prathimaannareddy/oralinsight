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450CAA-D2B6-464A-9A2C-2B60E58B86BB}" v="3" dt="2026-10-26T19:17:38.0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2" d="100"/>
          <a:sy n="62" d="100"/>
        </p:scale>
        <p:origin x="804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hima Anna Reddy" userId="0c1b02946f094dea" providerId="LiveId" clId="{AD7109EC-1AC8-40AF-9E2D-2E6AF3882D54}"/>
    <pc:docChg chg="custSel delSld modSld">
      <pc:chgData name="Prathima Anna Reddy" userId="0c1b02946f094dea" providerId="LiveId" clId="{AD7109EC-1AC8-40AF-9E2D-2E6AF3882D54}" dt="2026-10-26T19:18:01.596" v="352" actId="113"/>
      <pc:docMkLst>
        <pc:docMk/>
      </pc:docMkLst>
      <pc:sldChg chg="modSp mod">
        <pc:chgData name="Prathima Anna Reddy" userId="0c1b02946f094dea" providerId="LiveId" clId="{AD7109EC-1AC8-40AF-9E2D-2E6AF3882D54}" dt="2026-10-26T19:18:01.596" v="352" actId="113"/>
        <pc:sldMkLst>
          <pc:docMk/>
          <pc:sldMk cId="0" sldId="256"/>
        </pc:sldMkLst>
        <pc:spChg chg="mod">
          <ac:chgData name="Prathima Anna Reddy" userId="0c1b02946f094dea" providerId="LiveId" clId="{AD7109EC-1AC8-40AF-9E2D-2E6AF3882D54}" dt="2026-10-26T19:18:01.596" v="352" actId="113"/>
          <ac:spMkLst>
            <pc:docMk/>
            <pc:sldMk cId="0" sldId="256"/>
            <ac:spMk id="6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6:19:17.404" v="254" actId="20577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Prathima Anna Reddy" userId="0c1b02946f094dea" providerId="LiveId" clId="{AD7109EC-1AC8-40AF-9E2D-2E6AF3882D54}" dt="2026-10-26T16:17:08.433" v="170" actId="478"/>
        <pc:sldMkLst>
          <pc:docMk/>
          <pc:sldMk cId="0" sldId="257"/>
        </pc:sldMkLst>
        <pc:spChg chg="del">
          <ac:chgData name="Prathima Anna Reddy" userId="0c1b02946f094dea" providerId="LiveId" clId="{AD7109EC-1AC8-40AF-9E2D-2E6AF3882D54}" dt="2026-10-26T16:17:08.433" v="170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6:12:05.982" v="79" actId="403"/>
          <ac:spMkLst>
            <pc:docMk/>
            <pc:sldMk cId="0" sldId="257"/>
            <ac:spMk id="4" creationId="{00000000-0000-0000-0000-000000000000}"/>
          </ac:spMkLst>
        </pc:spChg>
      </pc:sldChg>
      <pc:sldChg chg="delSp modSp mod">
        <pc:chgData name="Prathima Anna Reddy" userId="0c1b02946f094dea" providerId="LiveId" clId="{AD7109EC-1AC8-40AF-9E2D-2E6AF3882D54}" dt="2026-10-26T19:08:55.099" v="266" actId="1076"/>
        <pc:sldMkLst>
          <pc:docMk/>
          <pc:sldMk cId="0" sldId="258"/>
        </pc:sldMkLst>
        <pc:spChg chg="del">
          <ac:chgData name="Prathima Anna Reddy" userId="0c1b02946f094dea" providerId="LiveId" clId="{AD7109EC-1AC8-40AF-9E2D-2E6AF3882D54}" dt="2026-10-26T16:17:05.830" v="169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9:08:55.099" v="266" actId="1076"/>
          <ac:spMkLst>
            <pc:docMk/>
            <pc:sldMk cId="0" sldId="258"/>
            <ac:spMk id="4" creationId="{00000000-0000-0000-0000-000000000000}"/>
          </ac:spMkLst>
        </pc:spChg>
        <pc:spChg chg="del mod">
          <ac:chgData name="Prathima Anna Reddy" userId="0c1b02946f094dea" providerId="LiveId" clId="{AD7109EC-1AC8-40AF-9E2D-2E6AF3882D54}" dt="2026-10-26T19:08:33.420" v="262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Prathima Anna Reddy" userId="0c1b02946f094dea" providerId="LiveId" clId="{AD7109EC-1AC8-40AF-9E2D-2E6AF3882D54}" dt="2026-10-26T19:08:28.575" v="259" actId="478"/>
          <ac:spMkLst>
            <pc:docMk/>
            <pc:sldMk cId="0" sldId="258"/>
            <ac:spMk id="6" creationId="{00000000-0000-0000-0000-000000000000}"/>
          </ac:spMkLst>
        </pc:spChg>
      </pc:sldChg>
      <pc:sldChg chg="delSp modSp mod">
        <pc:chgData name="Prathima Anna Reddy" userId="0c1b02946f094dea" providerId="LiveId" clId="{AD7109EC-1AC8-40AF-9E2D-2E6AF3882D54}" dt="2026-10-26T19:10:57.423" v="330" actId="20577"/>
        <pc:sldMkLst>
          <pc:docMk/>
          <pc:sldMk cId="0" sldId="259"/>
        </pc:sldMkLst>
        <pc:spChg chg="del">
          <ac:chgData name="Prathima Anna Reddy" userId="0c1b02946f094dea" providerId="LiveId" clId="{AD7109EC-1AC8-40AF-9E2D-2E6AF3882D54}" dt="2026-10-26T16:17:02.717" v="168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9:09:27.812" v="272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9:09:19.766" v="268" actId="403"/>
          <ac:spMkLst>
            <pc:docMk/>
            <pc:sldMk cId="0" sldId="259"/>
            <ac:spMk id="7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9:09:40.255" v="277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9:09:45.056" v="278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9:09:47.735" v="280" actId="403"/>
          <ac:spMkLst>
            <pc:docMk/>
            <pc:sldMk cId="0" sldId="259"/>
            <ac:spMk id="11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9:10:12.049" v="287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9:09:56.648" v="281" actId="403"/>
          <ac:spMkLst>
            <pc:docMk/>
            <pc:sldMk cId="0" sldId="259"/>
            <ac:spMk id="15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9:10:57.423" v="330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9:10:46.872" v="307" actId="20577"/>
          <ac:spMkLst>
            <pc:docMk/>
            <pc:sldMk cId="0" sldId="259"/>
            <ac:spMk id="19" creationId="{00000000-0000-0000-0000-000000000000}"/>
          </ac:spMkLst>
        </pc:spChg>
      </pc:sldChg>
      <pc:sldChg chg="delSp modSp mod">
        <pc:chgData name="Prathima Anna Reddy" userId="0c1b02946f094dea" providerId="LiveId" clId="{AD7109EC-1AC8-40AF-9E2D-2E6AF3882D54}" dt="2026-10-26T16:16:56.188" v="167" actId="478"/>
        <pc:sldMkLst>
          <pc:docMk/>
          <pc:sldMk cId="0" sldId="260"/>
        </pc:sldMkLst>
        <pc:spChg chg="del">
          <ac:chgData name="Prathima Anna Reddy" userId="0c1b02946f094dea" providerId="LiveId" clId="{AD7109EC-1AC8-40AF-9E2D-2E6AF3882D54}" dt="2026-10-26T16:16:56.188" v="167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6:12:57.878" v="93" actId="14100"/>
          <ac:spMkLst>
            <pc:docMk/>
            <pc:sldMk cId="0" sldId="260"/>
            <ac:spMk id="4" creationId="{00000000-0000-0000-0000-000000000000}"/>
          </ac:spMkLst>
        </pc:spChg>
      </pc:sldChg>
      <pc:sldChg chg="delSp modSp mod">
        <pc:chgData name="Prathima Anna Reddy" userId="0c1b02946f094dea" providerId="LiveId" clId="{AD7109EC-1AC8-40AF-9E2D-2E6AF3882D54}" dt="2026-10-26T16:16:52.889" v="166" actId="478"/>
        <pc:sldMkLst>
          <pc:docMk/>
          <pc:sldMk cId="0" sldId="261"/>
        </pc:sldMkLst>
        <pc:spChg chg="del">
          <ac:chgData name="Prathima Anna Reddy" userId="0c1b02946f094dea" providerId="LiveId" clId="{AD7109EC-1AC8-40AF-9E2D-2E6AF3882D54}" dt="2026-10-26T16:16:52.889" v="166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6:14:01.908" v="104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6:13:53.226" v="102" actId="403"/>
          <ac:spMkLst>
            <pc:docMk/>
            <pc:sldMk cId="0" sldId="261"/>
            <ac:spMk id="6" creationId="{00000000-0000-0000-0000-000000000000}"/>
          </ac:spMkLst>
        </pc:spChg>
        <pc:picChg chg="mod">
          <ac:chgData name="Prathima Anna Reddy" userId="0c1b02946f094dea" providerId="LiveId" clId="{AD7109EC-1AC8-40AF-9E2D-2E6AF3882D54}" dt="2026-10-26T16:13:44.336" v="99" actId="1076"/>
          <ac:picMkLst>
            <pc:docMk/>
            <pc:sldMk cId="0" sldId="261"/>
            <ac:picMk id="5" creationId="{00000000-0000-0000-0000-000000000000}"/>
          </ac:picMkLst>
        </pc:picChg>
      </pc:sldChg>
      <pc:sldChg chg="delSp modSp mod">
        <pc:chgData name="Prathima Anna Reddy" userId="0c1b02946f094dea" providerId="LiveId" clId="{AD7109EC-1AC8-40AF-9E2D-2E6AF3882D54}" dt="2026-10-26T19:13:44.934" v="348" actId="1076"/>
        <pc:sldMkLst>
          <pc:docMk/>
          <pc:sldMk cId="0" sldId="262"/>
        </pc:sldMkLst>
        <pc:spChg chg="del mod">
          <ac:chgData name="Prathima Anna Reddy" userId="0c1b02946f094dea" providerId="LiveId" clId="{AD7109EC-1AC8-40AF-9E2D-2E6AF3882D54}" dt="2026-10-26T16:16:49.536" v="165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6:14:58.084" v="130" actId="403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Prathima Anna Reddy" userId="0c1b02946f094dea" providerId="LiveId" clId="{AD7109EC-1AC8-40AF-9E2D-2E6AF3882D54}" dt="2026-10-26T19:12:35.948" v="331" actId="478"/>
          <ac:spMkLst>
            <pc:docMk/>
            <pc:sldMk cId="0" sldId="262"/>
            <ac:spMk id="6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9:12:58.814" v="337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6:15:04.446" v="132" actId="1076"/>
          <ac:spMkLst>
            <pc:docMk/>
            <pc:sldMk cId="0" sldId="262"/>
            <ac:spMk id="9" creationId="{00000000-0000-0000-0000-000000000000}"/>
          </ac:spMkLst>
        </pc:spChg>
        <pc:spChg chg="del mod">
          <ac:chgData name="Prathima Anna Reddy" userId="0c1b02946f094dea" providerId="LiveId" clId="{AD7109EC-1AC8-40AF-9E2D-2E6AF3882D54}" dt="2026-10-26T19:12:38.287" v="332" actId="478"/>
          <ac:spMkLst>
            <pc:docMk/>
            <pc:sldMk cId="0" sldId="262"/>
            <ac:spMk id="10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9:13:09.360" v="340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6:14:51.541" v="126" actId="403"/>
          <ac:spMkLst>
            <pc:docMk/>
            <pc:sldMk cId="0" sldId="262"/>
            <ac:spMk id="13" creationId="{00000000-0000-0000-0000-000000000000}"/>
          </ac:spMkLst>
        </pc:spChg>
        <pc:spChg chg="del mod">
          <ac:chgData name="Prathima Anna Reddy" userId="0c1b02946f094dea" providerId="LiveId" clId="{AD7109EC-1AC8-40AF-9E2D-2E6AF3882D54}" dt="2026-10-26T19:12:43.605" v="333" actId="478"/>
          <ac:spMkLst>
            <pc:docMk/>
            <pc:sldMk cId="0" sldId="262"/>
            <ac:spMk id="14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9:13:17.666" v="343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6:14:47.637" v="124" actId="403"/>
          <ac:spMkLst>
            <pc:docMk/>
            <pc:sldMk cId="0" sldId="262"/>
            <ac:spMk id="17" creationId="{00000000-0000-0000-0000-000000000000}"/>
          </ac:spMkLst>
        </pc:spChg>
        <pc:spChg chg="del mod">
          <ac:chgData name="Prathima Anna Reddy" userId="0c1b02946f094dea" providerId="LiveId" clId="{AD7109EC-1AC8-40AF-9E2D-2E6AF3882D54}" dt="2026-10-26T19:12:49.594" v="334" actId="478"/>
          <ac:spMkLst>
            <pc:docMk/>
            <pc:sldMk cId="0" sldId="262"/>
            <ac:spMk id="18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9:13:25.721" v="346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9:13:44.934" v="348" actId="1076"/>
          <ac:spMkLst>
            <pc:docMk/>
            <pc:sldMk cId="0" sldId="262"/>
            <ac:spMk id="20" creationId="{00000000-0000-0000-0000-000000000000}"/>
          </ac:spMkLst>
        </pc:spChg>
      </pc:sldChg>
      <pc:sldChg chg="delSp modSp mod">
        <pc:chgData name="Prathima Anna Reddy" userId="0c1b02946f094dea" providerId="LiveId" clId="{AD7109EC-1AC8-40AF-9E2D-2E6AF3882D54}" dt="2026-10-26T16:16:43.498" v="163" actId="478"/>
        <pc:sldMkLst>
          <pc:docMk/>
          <pc:sldMk cId="0" sldId="263"/>
        </pc:sldMkLst>
        <pc:spChg chg="del">
          <ac:chgData name="Prathima Anna Reddy" userId="0c1b02946f094dea" providerId="LiveId" clId="{AD7109EC-1AC8-40AF-9E2D-2E6AF3882D54}" dt="2026-10-26T16:16:43.498" v="163" actId="478"/>
          <ac:spMkLst>
            <pc:docMk/>
            <pc:sldMk cId="0" sldId="263"/>
            <ac:spMk id="3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6:15:54.955" v="148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6:16:07.511" v="151" actId="403"/>
          <ac:spMkLst>
            <pc:docMk/>
            <pc:sldMk cId="0" sldId="263"/>
            <ac:spMk id="7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6:16:03.823" v="150" actId="403"/>
          <ac:spMkLst>
            <pc:docMk/>
            <pc:sldMk cId="0" sldId="263"/>
            <ac:spMk id="8" creationId="{00000000-0000-0000-0000-000000000000}"/>
          </ac:spMkLst>
        </pc:spChg>
      </pc:sldChg>
      <pc:sldChg chg="delSp modSp mod">
        <pc:chgData name="Prathima Anna Reddy" userId="0c1b02946f094dea" providerId="LiveId" clId="{AD7109EC-1AC8-40AF-9E2D-2E6AF3882D54}" dt="2026-10-26T16:18:35.241" v="197" actId="403"/>
        <pc:sldMkLst>
          <pc:docMk/>
          <pc:sldMk cId="0" sldId="264"/>
        </pc:sldMkLst>
        <pc:spChg chg="del mod">
          <ac:chgData name="Prathima Anna Reddy" userId="0c1b02946f094dea" providerId="LiveId" clId="{AD7109EC-1AC8-40AF-9E2D-2E6AF3882D54}" dt="2026-10-26T16:16:40.495" v="162" actId="478"/>
          <ac:spMkLst>
            <pc:docMk/>
            <pc:sldMk cId="0" sldId="264"/>
            <ac:spMk id="3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6:18:35.241" v="197" actId="403"/>
          <ac:spMkLst>
            <pc:docMk/>
            <pc:sldMk cId="0" sldId="264"/>
            <ac:spMk id="16" creationId="{00000000-0000-0000-0000-000000000000}"/>
          </ac:spMkLst>
        </pc:spChg>
      </pc:sldChg>
      <pc:sldChg chg="delSp modSp del mod">
        <pc:chgData name="Prathima Anna Reddy" userId="0c1b02946f094dea" providerId="LiveId" clId="{AD7109EC-1AC8-40AF-9E2D-2E6AF3882D54}" dt="2026-10-26T19:15:07.998" v="351" actId="47"/>
        <pc:sldMkLst>
          <pc:docMk/>
          <pc:sldMk cId="0" sldId="265"/>
        </pc:sldMkLst>
        <pc:spChg chg="del">
          <ac:chgData name="Prathima Anna Reddy" userId="0c1b02946f094dea" providerId="LiveId" clId="{AD7109EC-1AC8-40AF-9E2D-2E6AF3882D54}" dt="2026-10-26T16:16:32.588" v="160" actId="478"/>
          <ac:spMkLst>
            <pc:docMk/>
            <pc:sldMk cId="0" sldId="265"/>
            <ac:spMk id="3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9:14:59.540" v="350" actId="1076"/>
          <ac:spMkLst>
            <pc:docMk/>
            <pc:sldMk cId="0" sldId="265"/>
            <ac:spMk id="4" creationId="{00000000-0000-0000-0000-000000000000}"/>
          </ac:spMkLst>
        </pc:spChg>
        <pc:spChg chg="del">
          <ac:chgData name="Prathima Anna Reddy" userId="0c1b02946f094dea" providerId="LiveId" clId="{AD7109EC-1AC8-40AF-9E2D-2E6AF3882D54}" dt="2026-10-26T16:16:26.376" v="158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Prathima Anna Reddy" userId="0c1b02946f094dea" providerId="LiveId" clId="{AD7109EC-1AC8-40AF-9E2D-2E6AF3882D54}" dt="2026-10-26T16:16:28.699" v="159" actId="478"/>
          <ac:spMkLst>
            <pc:docMk/>
            <pc:sldMk cId="0" sldId="265"/>
            <ac:spMk id="7" creationId="{00000000-0000-0000-0000-000000000000}"/>
          </ac:spMkLst>
        </pc:spChg>
      </pc:sldChg>
      <pc:sldChg chg="delSp modSp mod">
        <pc:chgData name="Prathima Anna Reddy" userId="0c1b02946f094dea" providerId="LiveId" clId="{AD7109EC-1AC8-40AF-9E2D-2E6AF3882D54}" dt="2026-10-26T16:17:34.685" v="175" actId="478"/>
        <pc:sldMkLst>
          <pc:docMk/>
          <pc:sldMk cId="0" sldId="266"/>
        </pc:sldMkLst>
        <pc:spChg chg="del">
          <ac:chgData name="Prathima Anna Reddy" userId="0c1b02946f094dea" providerId="LiveId" clId="{AD7109EC-1AC8-40AF-9E2D-2E6AF3882D54}" dt="2026-10-26T16:17:34.685" v="175" actId="478"/>
          <ac:spMkLst>
            <pc:docMk/>
            <pc:sldMk cId="0" sldId="266"/>
            <ac:spMk id="3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6:17:32.534" v="174" actId="1076"/>
          <ac:spMkLst>
            <pc:docMk/>
            <pc:sldMk cId="0" sldId="266"/>
            <ac:spMk id="4" creationId="{00000000-0000-0000-0000-000000000000}"/>
          </ac:spMkLst>
        </pc:spChg>
      </pc:sldChg>
      <pc:sldChg chg="delSp modSp mod">
        <pc:chgData name="Prathima Anna Reddy" userId="0c1b02946f094dea" providerId="LiveId" clId="{AD7109EC-1AC8-40AF-9E2D-2E6AF3882D54}" dt="2026-10-26T16:17:45.081" v="180" actId="1076"/>
        <pc:sldMkLst>
          <pc:docMk/>
          <pc:sldMk cId="0" sldId="267"/>
        </pc:sldMkLst>
        <pc:spChg chg="del">
          <ac:chgData name="Prathima Anna Reddy" userId="0c1b02946f094dea" providerId="LiveId" clId="{AD7109EC-1AC8-40AF-9E2D-2E6AF3882D54}" dt="2026-10-26T16:17:38.945" v="176" actId="478"/>
          <ac:spMkLst>
            <pc:docMk/>
            <pc:sldMk cId="0" sldId="267"/>
            <ac:spMk id="3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6:17:45.081" v="180" actId="1076"/>
          <ac:spMkLst>
            <pc:docMk/>
            <pc:sldMk cId="0" sldId="267"/>
            <ac:spMk id="4" creationId="{00000000-0000-0000-0000-000000000000}"/>
          </ac:spMkLst>
        </pc:spChg>
      </pc:sldChg>
      <pc:sldChg chg="delSp mod">
        <pc:chgData name="Prathima Anna Reddy" userId="0c1b02946f094dea" providerId="LiveId" clId="{AD7109EC-1AC8-40AF-9E2D-2E6AF3882D54}" dt="2026-10-26T16:17:55.320" v="181" actId="478"/>
        <pc:sldMkLst>
          <pc:docMk/>
          <pc:sldMk cId="0" sldId="268"/>
        </pc:sldMkLst>
        <pc:spChg chg="del">
          <ac:chgData name="Prathima Anna Reddy" userId="0c1b02946f094dea" providerId="LiveId" clId="{AD7109EC-1AC8-40AF-9E2D-2E6AF3882D54}" dt="2026-10-26T16:17:55.320" v="181" actId="478"/>
          <ac:spMkLst>
            <pc:docMk/>
            <pc:sldMk cId="0" sldId="268"/>
            <ac:spMk id="3" creationId="{00000000-0000-0000-0000-000000000000}"/>
          </ac:spMkLst>
        </pc:spChg>
      </pc:sldChg>
      <pc:sldChg chg="delSp modSp mod">
        <pc:chgData name="Prathima Anna Reddy" userId="0c1b02946f094dea" providerId="LiveId" clId="{AD7109EC-1AC8-40AF-9E2D-2E6AF3882D54}" dt="2026-10-26T16:28:27.836" v="258" actId="403"/>
        <pc:sldMkLst>
          <pc:docMk/>
          <pc:sldMk cId="0" sldId="269"/>
        </pc:sldMkLst>
        <pc:spChg chg="del">
          <ac:chgData name="Prathima Anna Reddy" userId="0c1b02946f094dea" providerId="LiveId" clId="{AD7109EC-1AC8-40AF-9E2D-2E6AF3882D54}" dt="2026-10-26T16:18:03.917" v="182" actId="478"/>
          <ac:spMkLst>
            <pc:docMk/>
            <pc:sldMk cId="0" sldId="269"/>
            <ac:spMk id="3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6:28:23.483" v="257" actId="403"/>
          <ac:spMkLst>
            <pc:docMk/>
            <pc:sldMk cId="0" sldId="269"/>
            <ac:spMk id="5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6:28:12.719" v="255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6:28:27.836" v="258" actId="403"/>
          <ac:spMkLst>
            <pc:docMk/>
            <pc:sldMk cId="0" sldId="269"/>
            <ac:spMk id="8" creationId="{00000000-0000-0000-0000-000000000000}"/>
          </ac:spMkLst>
        </pc:spChg>
        <pc:spChg chg="mod">
          <ac:chgData name="Prathima Anna Reddy" userId="0c1b02946f094dea" providerId="LiveId" clId="{AD7109EC-1AC8-40AF-9E2D-2E6AF3882D54}" dt="2026-10-26T16:28:18.630" v="256" actId="1076"/>
          <ac:spMkLst>
            <pc:docMk/>
            <pc:sldMk cId="0" sldId="269"/>
            <ac:spMk id="9" creationId="{00000000-0000-0000-0000-000000000000}"/>
          </ac:spMkLst>
        </pc:spChg>
      </pc:sldChg>
      <pc:sldChg chg="addSp delSp modSp mod">
        <pc:chgData name="Prathima Anna Reddy" userId="0c1b02946f094dea" providerId="LiveId" clId="{AD7109EC-1AC8-40AF-9E2D-2E6AF3882D54}" dt="2026-10-26T16:11:47.704" v="76" actId="1076"/>
        <pc:sldMkLst>
          <pc:docMk/>
          <pc:sldMk cId="0" sldId="270"/>
        </pc:sldMkLst>
        <pc:spChg chg="del">
          <ac:chgData name="Prathima Anna Reddy" userId="0c1b02946f094dea" providerId="LiveId" clId="{AD7109EC-1AC8-40AF-9E2D-2E6AF3882D54}" dt="2026-10-26T16:09:22.325" v="1" actId="478"/>
          <ac:spMkLst>
            <pc:docMk/>
            <pc:sldMk cId="0" sldId="270"/>
            <ac:spMk id="2" creationId="{00000000-0000-0000-0000-000000000000}"/>
          </ac:spMkLst>
        </pc:spChg>
        <pc:spChg chg="add mod">
          <ac:chgData name="Prathima Anna Reddy" userId="0c1b02946f094dea" providerId="LiveId" clId="{AD7109EC-1AC8-40AF-9E2D-2E6AF3882D54}" dt="2026-10-26T16:11:47.704" v="76" actId="1076"/>
          <ac:spMkLst>
            <pc:docMk/>
            <pc:sldMk cId="0" sldId="270"/>
            <ac:spMk id="2" creationId="{7D2145E0-A92D-73BA-A6F6-DD2551183960}"/>
          </ac:spMkLst>
        </pc:spChg>
        <pc:spChg chg="del">
          <ac:chgData name="Prathima Anna Reddy" userId="0c1b02946f094dea" providerId="LiveId" clId="{AD7109EC-1AC8-40AF-9E2D-2E6AF3882D54}" dt="2026-10-26T16:09:22.325" v="1" actId="478"/>
          <ac:spMkLst>
            <pc:docMk/>
            <pc:sldMk cId="0" sldId="270"/>
            <ac:spMk id="3" creationId="{00000000-0000-0000-0000-000000000000}"/>
          </ac:spMkLst>
        </pc:spChg>
        <pc:spChg chg="del">
          <ac:chgData name="Prathima Anna Reddy" userId="0c1b02946f094dea" providerId="LiveId" clId="{AD7109EC-1AC8-40AF-9E2D-2E6AF3882D54}" dt="2026-10-26T16:09:22.325" v="1" actId="478"/>
          <ac:spMkLst>
            <pc:docMk/>
            <pc:sldMk cId="0" sldId="270"/>
            <ac:spMk id="4" creationId="{00000000-0000-0000-0000-000000000000}"/>
          </ac:spMkLst>
        </pc:spChg>
        <pc:spChg chg="del">
          <ac:chgData name="Prathima Anna Reddy" userId="0c1b02946f094dea" providerId="LiveId" clId="{AD7109EC-1AC8-40AF-9E2D-2E6AF3882D54}" dt="2026-10-26T16:09:22.325" v="1" actId="478"/>
          <ac:spMkLst>
            <pc:docMk/>
            <pc:sldMk cId="0" sldId="270"/>
            <ac:spMk id="5" creationId="{00000000-0000-0000-0000-000000000000}"/>
          </ac:spMkLst>
        </pc:spChg>
        <pc:spChg chg="del">
          <ac:chgData name="Prathima Anna Reddy" userId="0c1b02946f094dea" providerId="LiveId" clId="{AD7109EC-1AC8-40AF-9E2D-2E6AF3882D54}" dt="2026-10-26T16:09:22.325" v="1" actId="478"/>
          <ac:spMkLst>
            <pc:docMk/>
            <pc:sldMk cId="0" sldId="270"/>
            <ac:spMk id="7" creationId="{00000000-0000-0000-0000-000000000000}"/>
          </ac:spMkLst>
        </pc:spChg>
        <pc:spChg chg="del">
          <ac:chgData name="Prathima Anna Reddy" userId="0c1b02946f094dea" providerId="LiveId" clId="{AD7109EC-1AC8-40AF-9E2D-2E6AF3882D54}" dt="2026-10-26T16:09:22.325" v="1" actId="478"/>
          <ac:spMkLst>
            <pc:docMk/>
            <pc:sldMk cId="0" sldId="270"/>
            <ac:spMk id="9" creationId="{00000000-0000-0000-0000-000000000000}"/>
          </ac:spMkLst>
        </pc:spChg>
        <pc:spChg chg="del">
          <ac:chgData name="Prathima Anna Reddy" userId="0c1b02946f094dea" providerId="LiveId" clId="{AD7109EC-1AC8-40AF-9E2D-2E6AF3882D54}" dt="2026-10-26T16:09:22.325" v="1" actId="478"/>
          <ac:spMkLst>
            <pc:docMk/>
            <pc:sldMk cId="0" sldId="270"/>
            <ac:spMk id="10" creationId="{00000000-0000-0000-0000-000000000000}"/>
          </ac:spMkLst>
        </pc:spChg>
        <pc:spChg chg="del">
          <ac:chgData name="Prathima Anna Reddy" userId="0c1b02946f094dea" providerId="LiveId" clId="{AD7109EC-1AC8-40AF-9E2D-2E6AF3882D54}" dt="2026-10-26T16:09:22.325" v="1" actId="478"/>
          <ac:spMkLst>
            <pc:docMk/>
            <pc:sldMk cId="0" sldId="270"/>
            <ac:spMk id="11" creationId="{00000000-0000-0000-0000-000000000000}"/>
          </ac:spMkLst>
        </pc:spChg>
        <pc:spChg chg="del">
          <ac:chgData name="Prathima Anna Reddy" userId="0c1b02946f094dea" providerId="LiveId" clId="{AD7109EC-1AC8-40AF-9E2D-2E6AF3882D54}" dt="2026-10-26T16:09:22.325" v="1" actId="478"/>
          <ac:spMkLst>
            <pc:docMk/>
            <pc:sldMk cId="0" sldId="270"/>
            <ac:spMk id="12" creationId="{00000000-0000-0000-0000-000000000000}"/>
          </ac:spMkLst>
        </pc:spChg>
        <pc:spChg chg="del">
          <ac:chgData name="Prathima Anna Reddy" userId="0c1b02946f094dea" providerId="LiveId" clId="{AD7109EC-1AC8-40AF-9E2D-2E6AF3882D54}" dt="2026-10-26T16:09:22.325" v="1" actId="478"/>
          <ac:spMkLst>
            <pc:docMk/>
            <pc:sldMk cId="0" sldId="270"/>
            <ac:spMk id="13" creationId="{00000000-0000-0000-0000-000000000000}"/>
          </ac:spMkLst>
        </pc:spChg>
        <pc:spChg chg="del">
          <ac:chgData name="Prathima Anna Reddy" userId="0c1b02946f094dea" providerId="LiveId" clId="{AD7109EC-1AC8-40AF-9E2D-2E6AF3882D54}" dt="2026-10-26T16:08:59.981" v="0" actId="478"/>
          <ac:spMkLst>
            <pc:docMk/>
            <pc:sldMk cId="0" sldId="270"/>
            <ac:spMk id="16" creationId="{00000000-0000-0000-0000-000000000000}"/>
          </ac:spMkLst>
        </pc:spChg>
        <pc:spChg chg="add mod">
          <ac:chgData name="Prathima Anna Reddy" userId="0c1b02946f094dea" providerId="LiveId" clId="{AD7109EC-1AC8-40AF-9E2D-2E6AF3882D54}" dt="2026-10-26T16:11:17.823" v="53" actId="113"/>
          <ac:spMkLst>
            <pc:docMk/>
            <pc:sldMk cId="0" sldId="270"/>
            <ac:spMk id="17" creationId="{860031E8-8730-8E62-6550-370346530A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306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saying what the talk is about: a photo-based screening aid, studied carefully, including a result that looked perfect for the wrong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two outputs. Stress that the heat map is a model explanation, not a medical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motivating problem: late detection, few specialists, and over-optimistic AI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four goals match the paper. Goal 1 and goal 3 produced the most interesting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dataset is small and single-source. The size difference between classes becomes a shortcut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locked test set and duplicate grouping. This is what makes the evaluation believable.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baseline is deliberately simple. It tells us how much the pretrained models actually add.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selection rule was written down before the final test. Low-resolution augmentation is the key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four numbers slowly. Then say that missing four cancers is the error that matters most clinically.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shortcut was invisible in accuracy and in the heat maps. Only a controlled test found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one correct and one wrong example. Say that agreement between methods is only partial.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each gap to a result: leakage to the 1.000 experiment, shortcuts to the resolution test, explanations to the heat-map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explicit that the model is not ready for clinical use. Then point to the concrete next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the leakage lesson and the clinical caution.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6012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 dirty="0" err="1">
                <a:solidFill>
                  <a:srgbClr val="FFFFFF"/>
                </a:solidFill>
                <a:latin typeface="Cambria"/>
              </a:rPr>
              <a:t>OralInsight</a:t>
            </a:r>
            <a:endParaRPr sz="54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 i="0" dirty="0">
                <a:solidFill>
                  <a:srgbClr val="CFE3E5"/>
                </a:solidFill>
                <a:latin typeface="Calibri"/>
              </a:rPr>
              <a:t>Can a computer help spot a serious oral lesion from a photograph?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 dirty="0">
                <a:solidFill>
                  <a:srgbClr val="CFE3E5"/>
                </a:solidFill>
                <a:latin typeface="Calibri"/>
              </a:rPr>
              <a:t>A small, careful study of what works, what looks too good, and why.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77639"/>
            <a:ext cx="1280160" cy="4572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07040" cy="10541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 dirty="0" err="1">
                <a:solidFill>
                  <a:srgbClr val="FFFFFF"/>
                </a:solidFill>
                <a:latin typeface="Calibri"/>
              </a:rPr>
              <a:t>Annareddy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Sai Prathima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 2430010176</a:t>
            </a:r>
            <a:endParaRPr lang="en-US" sz="14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400" b="1" i="0" dirty="0">
                <a:solidFill>
                  <a:srgbClr val="FFFFFF"/>
                </a:solidFill>
                <a:latin typeface="Calibri"/>
              </a:rPr>
              <a:t>Manya Aghi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 2430010231</a:t>
            </a:r>
            <a:endParaRPr lang="en-US" sz="14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Department of Computer Science and Data Science, Manipal University Jaipur</a:t>
            </a:r>
          </a:p>
          <a:p>
            <a:pPr algn="l">
              <a:spcAft>
                <a:spcPts val="500"/>
              </a:spcAft>
            </a:pPr>
            <a:r>
              <a:rPr sz="1400" b="1" i="0" dirty="0">
                <a:solidFill>
                  <a:srgbClr val="FFFFFF"/>
                </a:solidFill>
                <a:latin typeface="Calibri"/>
              </a:rPr>
              <a:t>Supervisor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: Dr Pankaj Pandey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070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 dirty="0">
                <a:solidFill>
                  <a:srgbClr val="9FBFC3"/>
                </a:solidFill>
                <a:latin typeface="Calibri"/>
              </a:rPr>
              <a:t>DSE3140 Computer Vision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3B43"/>
                </a:solidFill>
                <a:latin typeface="Cambria"/>
              </a:rPr>
              <a:t>What this project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309360" cy="404726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56032" indent="-256032">
              <a:spcAft>
                <a:spcPts val="1200"/>
              </a:spcAft>
              <a:buChar char="•"/>
            </a:pPr>
            <a:r>
              <a:rPr sz="2000" b="1" dirty="0">
                <a:solidFill>
                  <a:srgbClr val="222B2E"/>
                </a:solidFill>
                <a:latin typeface="Calibri"/>
              </a:rPr>
              <a:t>We built a program </a:t>
            </a:r>
            <a:r>
              <a:rPr sz="2000" b="0" dirty="0">
                <a:solidFill>
                  <a:srgbClr val="222B2E"/>
                </a:solidFill>
                <a:latin typeface="Calibri"/>
              </a:rPr>
              <a:t>that looks at a photo of a lesion inside the mouth.</a:t>
            </a:r>
          </a:p>
          <a:p>
            <a:pPr marL="256032" indent="-256032">
              <a:spcAft>
                <a:spcPts val="1200"/>
              </a:spcAft>
              <a:buChar char="•"/>
            </a:pPr>
            <a:r>
              <a:rPr sz="2000" b="1" dirty="0">
                <a:solidFill>
                  <a:srgbClr val="222B2E"/>
                </a:solidFill>
                <a:latin typeface="Calibri"/>
              </a:rPr>
              <a:t>It gives two things: </a:t>
            </a:r>
            <a:r>
              <a:rPr sz="2000" b="0" dirty="0">
                <a:solidFill>
                  <a:srgbClr val="222B2E"/>
                </a:solidFill>
                <a:latin typeface="Calibri"/>
              </a:rPr>
              <a:t>a probability that the lesion is malignant-like, and a heat map of the area that influenced the answer.</a:t>
            </a:r>
          </a:p>
          <a:p>
            <a:pPr marL="256032" indent="-256032">
              <a:spcAft>
                <a:spcPts val="1200"/>
              </a:spcAft>
              <a:buChar char="•"/>
            </a:pPr>
            <a:r>
              <a:rPr sz="2000" b="1" dirty="0">
                <a:solidFill>
                  <a:srgbClr val="222B2E"/>
                </a:solidFill>
                <a:latin typeface="Calibri"/>
              </a:rPr>
              <a:t>The heat map is called Grad-CAM. </a:t>
            </a:r>
            <a:r>
              <a:rPr sz="2000" b="0" dirty="0">
                <a:solidFill>
                  <a:srgbClr val="222B2E"/>
                </a:solidFill>
                <a:latin typeface="Calibri"/>
              </a:rPr>
              <a:t>It shows what the model used, not what a doctor should see.</a:t>
            </a:r>
          </a:p>
          <a:p>
            <a:pPr marL="256032" indent="-256032">
              <a:spcAft>
                <a:spcPts val="1200"/>
              </a:spcAft>
              <a:buChar char="•"/>
            </a:pPr>
            <a:r>
              <a:rPr sz="2000" b="1" dirty="0">
                <a:solidFill>
                  <a:srgbClr val="222B2E"/>
                </a:solidFill>
                <a:latin typeface="Calibri"/>
              </a:rPr>
              <a:t>It runs as a small web app </a:t>
            </a:r>
            <a:r>
              <a:rPr sz="2000" b="0" dirty="0">
                <a:solidFill>
                  <a:srgbClr val="222B2E"/>
                </a:solidFill>
                <a:latin typeface="Calibri"/>
              </a:rPr>
              <a:t>where anyone can upload a photo and see the result and the map.</a:t>
            </a:r>
          </a:p>
          <a:p>
            <a:pPr marL="256032" indent="-256032">
              <a:spcAft>
                <a:spcPts val="1200"/>
              </a:spcAft>
              <a:buChar char="•"/>
            </a:pPr>
            <a:r>
              <a:rPr sz="2000" b="1" dirty="0">
                <a:solidFill>
                  <a:srgbClr val="C8553D"/>
                </a:solidFill>
                <a:latin typeface="Calibri"/>
              </a:rPr>
              <a:t>It is a research prototype. </a:t>
            </a:r>
            <a:r>
              <a:rPr sz="2000" b="0" dirty="0">
                <a:solidFill>
                  <a:srgbClr val="222B2E"/>
                </a:solidFill>
                <a:latin typeface="Calibri"/>
              </a:rPr>
              <a:t>It does not diagnose anyone and has not been tested in a clinic.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1554480"/>
            <a:ext cx="4297680" cy="416052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proto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783080"/>
            <a:ext cx="3840480" cy="27027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52360" y="521208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 dirty="0">
                <a:solidFill>
                  <a:srgbClr val="5E6B6E"/>
                </a:solidFill>
                <a:latin typeface="Calibri"/>
              </a:rPr>
              <a:t>The working web app on a test photograph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OralInsight · oral lesion image classification · research prototype, not a diagnostic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3B43"/>
                </a:solidFill>
                <a:latin typeface="Cambria"/>
              </a:rPr>
              <a:t>The problem we wanted to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635424"/>
            <a:ext cx="10972800" cy="280076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56032" indent="-256032">
              <a:spcAft>
                <a:spcPts val="1400"/>
              </a:spcAft>
              <a:buChar char="•"/>
            </a:pPr>
            <a:r>
              <a:rPr sz="2400" b="1" dirty="0">
                <a:solidFill>
                  <a:srgbClr val="222B2E"/>
                </a:solidFill>
                <a:latin typeface="Calibri"/>
              </a:rPr>
              <a:t>Oral cancer is often found late. </a:t>
            </a:r>
            <a:r>
              <a:rPr sz="2400" b="0" dirty="0">
                <a:solidFill>
                  <a:srgbClr val="222B2E"/>
                </a:solidFill>
                <a:latin typeface="Calibri"/>
              </a:rPr>
              <a:t>Early lesions are visible, but they can look very similar to harmless ones.</a:t>
            </a:r>
          </a:p>
          <a:p>
            <a:pPr marL="256032" indent="-256032">
              <a:spcAft>
                <a:spcPts val="1400"/>
              </a:spcAft>
              <a:buChar char="•"/>
            </a:pPr>
            <a:r>
              <a:rPr sz="2400" b="1" dirty="0">
                <a:solidFill>
                  <a:srgbClr val="222B2E"/>
                </a:solidFill>
                <a:latin typeface="Calibri"/>
              </a:rPr>
              <a:t>There are too few specialists </a:t>
            </a:r>
            <a:r>
              <a:rPr sz="2400" b="0" dirty="0">
                <a:solidFill>
                  <a:srgbClr val="222B2E"/>
                </a:solidFill>
                <a:latin typeface="Calibri"/>
              </a:rPr>
              <a:t>to examine every mouth, especially in primary care.</a:t>
            </a:r>
          </a:p>
          <a:p>
            <a:pPr marL="256032" indent="-256032">
              <a:spcAft>
                <a:spcPts val="1400"/>
              </a:spcAft>
              <a:buChar char="•"/>
            </a:pPr>
            <a:r>
              <a:rPr sz="2400" b="1" dirty="0">
                <a:solidFill>
                  <a:srgbClr val="222B2E"/>
                </a:solidFill>
                <a:latin typeface="Calibri"/>
              </a:rPr>
              <a:t>AI papers report very high scores </a:t>
            </a:r>
            <a:r>
              <a:rPr sz="2400" b="0" dirty="0">
                <a:solidFill>
                  <a:srgbClr val="222B2E"/>
                </a:solidFill>
                <a:latin typeface="Calibri"/>
              </a:rPr>
              <a:t>(AUC 0.86–1.00), usually on small public datasets.</a:t>
            </a:r>
          </a:p>
          <a:p>
            <a:pPr marL="256032" indent="-256032">
              <a:spcAft>
                <a:spcPts val="1400"/>
              </a:spcAft>
              <a:buChar char="•"/>
            </a:pPr>
            <a:r>
              <a:rPr sz="2400" b="1" dirty="0">
                <a:solidFill>
                  <a:srgbClr val="222B2E"/>
                </a:solidFill>
                <a:latin typeface="Calibri"/>
              </a:rPr>
              <a:t>Three things make those scores fragile: </a:t>
            </a:r>
            <a:r>
              <a:rPr sz="2400" b="0" dirty="0">
                <a:solidFill>
                  <a:srgbClr val="222B2E"/>
                </a:solidFill>
                <a:latin typeface="Calibri"/>
              </a:rPr>
              <a:t>tiny data, augmented copies of test images in training, and heat maps that are rarely checked on mistakes.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OralInsight · oral lesion image classification · research prototype, not a diagnostic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3B43"/>
                </a:solidFill>
                <a:latin typeface="Cambria"/>
              </a:rPr>
              <a:t>What we set out to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1783080"/>
            <a:ext cx="566928" cy="566928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5064" y="1881878"/>
            <a:ext cx="4114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 dirty="0">
                <a:solidFill>
                  <a:srgbClr val="0E3B43"/>
                </a:solidFill>
                <a:latin typeface="Cambria"/>
              </a:rPr>
              <a:t>Build a fair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23160"/>
            <a:ext cx="4800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 dirty="0">
                <a:solidFill>
                  <a:srgbClr val="222B2E"/>
                </a:solidFill>
                <a:latin typeface="Calibri"/>
              </a:rPr>
              <a:t>Split the photos so that near-duplicates never appear on both sides, and measure how much leakage inflates the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79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92240" y="1783080"/>
            <a:ext cx="566928" cy="566928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78624" y="1848208"/>
            <a:ext cx="4114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 dirty="0">
                <a:solidFill>
                  <a:srgbClr val="0E3B43"/>
                </a:solidFill>
                <a:latin typeface="Cambria"/>
              </a:rPr>
              <a:t>Compare four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423160"/>
            <a:ext cx="480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0" i="0" dirty="0">
                <a:solidFill>
                  <a:srgbClr val="222B2E"/>
                </a:solidFill>
                <a:latin typeface="Calibri"/>
              </a:rPr>
              <a:t>A small CNN trained from scratch against three pretrained models, using the same data and recipe.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332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68680" y="3931920"/>
            <a:ext cx="566928" cy="566928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4030718"/>
            <a:ext cx="4114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 dirty="0">
                <a:solidFill>
                  <a:srgbClr val="0E3B43"/>
                </a:solidFill>
                <a:latin typeface="Cambria"/>
              </a:rPr>
              <a:t>Explain the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572000"/>
            <a:ext cx="480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0" i="0" dirty="0">
                <a:solidFill>
                  <a:srgbClr val="222B2E"/>
                </a:solidFill>
                <a:latin typeface="Calibri"/>
              </a:rPr>
              <a:t>Use heat maps on correct and wrong predictions, and test for hidden shortcuts.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0332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92240" y="3931920"/>
            <a:ext cx="566928" cy="566928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030718"/>
            <a:ext cx="4114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400" b="1" i="0" dirty="0">
                <a:solidFill>
                  <a:srgbClr val="0E3B43"/>
                </a:solidFill>
                <a:latin typeface="Cambria"/>
              </a:rPr>
              <a:t>Analyze the figures</a:t>
            </a:r>
            <a:endParaRPr sz="2400" b="1" i="0" dirty="0">
              <a:solidFill>
                <a:srgbClr val="0E3B43"/>
              </a:solidFill>
              <a:latin typeface="Cambri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19672" y="4572000"/>
            <a:ext cx="480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b="0" i="0" dirty="0">
                <a:solidFill>
                  <a:srgbClr val="222B2E"/>
                </a:solidFill>
                <a:latin typeface="Calibri"/>
              </a:rPr>
              <a:t>Diagrams </a:t>
            </a:r>
            <a:r>
              <a:rPr b="0" i="0" dirty="0">
                <a:solidFill>
                  <a:srgbClr val="222B2E"/>
                </a:solidFill>
                <a:latin typeface="Calibri"/>
              </a:rPr>
              <a:t>that repor</a:t>
            </a:r>
            <a:r>
              <a:rPr lang="en-US" dirty="0">
                <a:solidFill>
                  <a:srgbClr val="222B2E"/>
                </a:solidFill>
                <a:latin typeface="Calibri"/>
              </a:rPr>
              <a:t>t </a:t>
            </a:r>
            <a:r>
              <a:rPr b="0" i="0" dirty="0">
                <a:solidFill>
                  <a:srgbClr val="222B2E"/>
                </a:solidFill>
                <a:latin typeface="Calibri"/>
              </a:rPr>
              <a:t>a probability and a heat map, with a clear non-diagnostic warning.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OralInsight · oral lesion image classification · research prototype, not a diagnostic 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3B43"/>
                </a:solidFill>
                <a:latin typeface="Cambria"/>
              </a:rPr>
              <a:t>The data we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9104" y="1600294"/>
            <a:ext cx="5236845" cy="3657411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56032" indent="-256032">
              <a:spcAft>
                <a:spcPts val="11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Mendeley Oral Images Dataset </a:t>
            </a:r>
            <a:r>
              <a:rPr b="0" dirty="0">
                <a:solidFill>
                  <a:srgbClr val="222B2E"/>
                </a:solidFill>
                <a:latin typeface="Calibri"/>
              </a:rPr>
              <a:t>(open </a:t>
            </a:r>
            <a:r>
              <a:rPr b="0" dirty="0" err="1">
                <a:solidFill>
                  <a:srgbClr val="222B2E"/>
                </a:solidFill>
                <a:latin typeface="Calibri"/>
              </a:rPr>
              <a:t>licence</a:t>
            </a:r>
            <a:r>
              <a:rPr b="0" dirty="0">
                <a:solidFill>
                  <a:srgbClr val="222B2E"/>
                </a:solidFill>
                <a:latin typeface="Calibri"/>
              </a:rPr>
              <a:t>, CC BY 4.0).</a:t>
            </a:r>
          </a:p>
          <a:p>
            <a:pPr marL="256032" indent="-256032">
              <a:spcAft>
                <a:spcPts val="11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323 photographs: </a:t>
            </a:r>
            <a:r>
              <a:rPr b="0" dirty="0">
                <a:solidFill>
                  <a:srgbClr val="222B2E"/>
                </a:solidFill>
                <a:latin typeface="Calibri"/>
              </a:rPr>
              <a:t>165 benign and 158 malignant — roughly balanced.</a:t>
            </a:r>
          </a:p>
          <a:p>
            <a:pPr marL="256032" indent="-256032">
              <a:spcAft>
                <a:spcPts val="11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Only the original photos </a:t>
            </a:r>
            <a:r>
              <a:rPr b="0" dirty="0">
                <a:solidFill>
                  <a:srgbClr val="222B2E"/>
                </a:solidFill>
                <a:latin typeface="Calibri"/>
              </a:rPr>
              <a:t>were used. We did not use the dataset's pre-augmented folder.</a:t>
            </a:r>
          </a:p>
          <a:p>
            <a:pPr marL="256032" indent="-256032">
              <a:spcAft>
                <a:spcPts val="11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Photos differ a lot: </a:t>
            </a:r>
            <a:r>
              <a:rPr b="0" dirty="0">
                <a:solidFill>
                  <a:srgbClr val="222B2E"/>
                </a:solidFill>
                <a:latin typeface="Calibri"/>
              </a:rPr>
              <a:t>different cameras, sizes and lighting. Size alone hints at the class — a trap we came back to.</a:t>
            </a:r>
          </a:p>
          <a:p>
            <a:pPr marL="256032" indent="-256032">
              <a:spcAft>
                <a:spcPts val="11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No patient information </a:t>
            </a:r>
            <a:r>
              <a:rPr b="0" dirty="0">
                <a:solidFill>
                  <a:srgbClr val="222B2E"/>
                </a:solidFill>
                <a:latin typeface="Calibri"/>
              </a:rPr>
              <a:t>such as age, sex or habits, and no biopsy records.</a:t>
            </a:r>
          </a:p>
        </p:txBody>
      </p:sp>
      <p:pic>
        <p:nvPicPr>
          <p:cNvPr id="5" name="Picture 4" descr="fig_class_distribution_di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783080"/>
            <a:ext cx="5486400" cy="27829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489204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5E6B6E"/>
                </a:solidFill>
                <a:latin typeface="Calibri"/>
              </a:rPr>
              <a:t>Left: number of images per class. Right: image size by class — malignant photos were often larger.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OralInsight · oral lesion image classification · research prototype, not a diagnostic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3B43"/>
                </a:solidFill>
                <a:latin typeface="Cambria"/>
              </a:rPr>
              <a:t>How we kept the test fair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150" y="2048935"/>
            <a:ext cx="4297680" cy="292387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56032" indent="-256032">
              <a:spcAft>
                <a:spcPts val="10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Group near-duplicates </a:t>
            </a:r>
            <a:r>
              <a:rPr b="0" dirty="0">
                <a:solidFill>
                  <a:srgbClr val="222B2E"/>
                </a:solidFill>
                <a:latin typeface="Calibri"/>
              </a:rPr>
              <a:t>so copies stay on one side of the split.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Lock 65 photos as a test set </a:t>
            </a:r>
            <a:r>
              <a:rPr b="0" dirty="0">
                <a:solidFill>
                  <a:srgbClr val="222B2E"/>
                </a:solidFill>
                <a:latin typeface="Calibri"/>
              </a:rPr>
              <a:t>before training; open it once, at the end.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Use 258 photos for development </a:t>
            </a:r>
            <a:r>
              <a:rPr b="0" dirty="0">
                <a:solidFill>
                  <a:srgbClr val="222B2E"/>
                </a:solidFill>
                <a:latin typeface="Calibri"/>
              </a:rPr>
              <a:t>in 5 cross-validation folds, grouped by duplicate.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Report confidence intervals </a:t>
            </a:r>
            <a:r>
              <a:rPr b="0" dirty="0">
                <a:solidFill>
                  <a:srgbClr val="222B2E"/>
                </a:solidFill>
                <a:latin typeface="Calibri"/>
              </a:rPr>
              <a:t>and a baseline, so the numbers have context.</a:t>
            </a:r>
          </a:p>
        </p:txBody>
      </p:sp>
      <p:pic>
        <p:nvPicPr>
          <p:cNvPr id="5" name="Picture 4" descr="fig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819" y="1565148"/>
            <a:ext cx="7258673" cy="33268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74920" y="4972812"/>
            <a:ext cx="6583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 dirty="0">
                <a:solidFill>
                  <a:srgbClr val="5E6B6E"/>
                </a:solidFill>
                <a:latin typeface="Calibri"/>
              </a:rPr>
              <a:t>The full workflow: data, cleaning, split, models, tuning, explanations, evaluation and prototype.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OralInsight · oral lesion image classification · research prototype, not a diagnostic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3B43"/>
                </a:solidFill>
                <a:latin typeface="Cambria"/>
              </a:rPr>
              <a:t>The four models we compared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560320" cy="320040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dirty="0">
                <a:solidFill>
                  <a:srgbClr val="0E3B43"/>
                </a:solidFill>
                <a:latin typeface="Cambria"/>
              </a:rPr>
              <a:t>Baseline CNN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50855"/>
            <a:ext cx="219456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0" i="0" dirty="0">
                <a:solidFill>
                  <a:srgbClr val="222B2E"/>
                </a:solidFill>
                <a:latin typeface="Calibri"/>
              </a:rPr>
              <a:t>A small network trained from scratch. The reference point.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00200"/>
            <a:ext cx="2560320" cy="320040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1830741"/>
            <a:ext cx="25603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dirty="0">
                <a:solidFill>
                  <a:srgbClr val="0E3B43"/>
                </a:solidFill>
                <a:latin typeface="Cambria"/>
              </a:rPr>
              <a:t>MobileNetV3-Large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950855"/>
            <a:ext cx="219456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0" i="0" dirty="0">
                <a:solidFill>
                  <a:srgbClr val="222B2E"/>
                </a:solidFill>
                <a:latin typeface="Calibri"/>
              </a:rPr>
              <a:t>Small and fast; pretrained on everyday images (ImageNet).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2560320" cy="320040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828800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dirty="0">
                <a:solidFill>
                  <a:srgbClr val="0E3B43"/>
                </a:solidFill>
                <a:latin typeface="Cambria"/>
              </a:rPr>
              <a:t>EfficientNet-B0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950854"/>
            <a:ext cx="219456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0" i="0" dirty="0">
                <a:solidFill>
                  <a:srgbClr val="222B2E"/>
                </a:solidFill>
                <a:latin typeface="Calibri"/>
              </a:rPr>
              <a:t>Balanced pretrained model; a common strong baseline.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600200"/>
            <a:ext cx="2560320" cy="320040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08008" y="1828800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dirty="0">
                <a:solidFill>
                  <a:srgbClr val="0E3B43"/>
                </a:solidFill>
                <a:latin typeface="Cambria"/>
              </a:rPr>
              <a:t>ResNet-50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0779" y="2950855"/>
            <a:ext cx="219456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0" i="0" dirty="0">
                <a:solidFill>
                  <a:srgbClr val="222B2E"/>
                </a:solidFill>
                <a:latin typeface="Calibri"/>
              </a:rPr>
              <a:t>The largest model here; more capacity, slower on a CPU.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29499"/>
            <a:ext cx="108813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dirty="0">
                <a:solidFill>
                  <a:srgbClr val="222B2E"/>
                </a:solidFill>
                <a:latin typeface="Calibri"/>
              </a:rPr>
              <a:t>Why compare? </a:t>
            </a:r>
            <a:r>
              <a:rPr sz="2000" b="0" i="0" dirty="0">
                <a:solidFill>
                  <a:srgbClr val="222B2E"/>
                </a:solidFill>
                <a:latin typeface="Calibri"/>
              </a:rPr>
              <a:t>A pretrained model should beat one trained from scratch on only 258 images — but does it beat it by enough to justify the extra size and cost?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OralInsight · oral lesion image classification · research prototype, not a diagnostic 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3B43"/>
                </a:solidFill>
                <a:latin typeface="Cambria"/>
              </a:rPr>
              <a:t>How we trained and chose the final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4355" y="2047852"/>
            <a:ext cx="6492240" cy="276229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56032" indent="-256032">
              <a:spcAft>
                <a:spcPts val="13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Same training recipe </a:t>
            </a:r>
            <a:r>
              <a:rPr b="0" dirty="0">
                <a:solidFill>
                  <a:srgbClr val="222B2E"/>
                </a:solidFill>
                <a:latin typeface="Calibri"/>
              </a:rPr>
              <a:t>for every model: 15 epochs, Adam, batch size 16, standard augmentation.</a:t>
            </a:r>
          </a:p>
          <a:p>
            <a:pPr marL="256032" indent="-256032">
              <a:spcAft>
                <a:spcPts val="13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14 tuning runs </a:t>
            </a:r>
            <a:r>
              <a:rPr b="0" dirty="0">
                <a:solidFill>
                  <a:srgbClr val="222B2E"/>
                </a:solidFill>
                <a:latin typeface="Calibri"/>
              </a:rPr>
              <a:t>for the strongest model, changing one setting at a time.</a:t>
            </a:r>
          </a:p>
          <a:p>
            <a:pPr marL="256032" indent="-256032">
              <a:spcAft>
                <a:spcPts val="13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One extra idea: </a:t>
            </a:r>
            <a:r>
              <a:rPr b="0" dirty="0">
                <a:solidFill>
                  <a:srgbClr val="222B2E"/>
                </a:solidFill>
                <a:latin typeface="Calibri"/>
              </a:rPr>
              <a:t>randomly shrink some training images. This teaches the model not to rely on sharpness or size.</a:t>
            </a:r>
          </a:p>
          <a:p>
            <a:pPr marL="256032" indent="-256032">
              <a:spcAft>
                <a:spcPts val="13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Selection rule, fixed in advance: </a:t>
            </a:r>
            <a:r>
              <a:rPr b="0" dirty="0">
                <a:solidFill>
                  <a:srgbClr val="222B2E"/>
                </a:solidFill>
                <a:latin typeface="Calibri"/>
              </a:rPr>
              <a:t>best cross-validated macro-F1, then fewest benign images flipped by blur, then AUC.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600200"/>
            <a:ext cx="4069080" cy="3931920"/>
          </a:xfrm>
          <a:prstGeom prst="roundRect">
            <a:avLst>
              <a:gd name="adj" fmla="val 6000"/>
            </a:avLst>
          </a:prstGeom>
          <a:solidFill>
            <a:srgbClr val="0E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35240" y="182880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FE3E5"/>
                </a:solidFill>
                <a:latin typeface="Calibri"/>
              </a:rPr>
              <a:t>FINAL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194560"/>
            <a:ext cx="36118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 dirty="0">
                <a:solidFill>
                  <a:srgbClr val="FFFFFF"/>
                </a:solidFill>
                <a:latin typeface="Cambria"/>
              </a:rPr>
              <a:t>MobileNetV3-Large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3246120"/>
            <a:ext cx="361188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 dirty="0">
                <a:solidFill>
                  <a:srgbClr val="FFFFFF"/>
                </a:solidFill>
                <a:latin typeface="Calibri"/>
              </a:rPr>
              <a:t>with low-resolution augmentation
settings from tuning run E13
4.20 M parameters · 28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ms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per image on 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OralInsight · oral lesion image classification · research prototype, not a diagnostic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3B43"/>
                </a:solidFill>
                <a:latin typeface="Cambria"/>
              </a:rPr>
              <a:t>How well did it work?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7335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6F78"/>
                </a:solidFill>
                <a:latin typeface="Cambria"/>
              </a:rPr>
              <a:t>89.2%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E6B6E"/>
                </a:solidFill>
                <a:latin typeface="Calibri"/>
              </a:rP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087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167335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6F78"/>
                </a:solidFill>
                <a:latin typeface="Cambria"/>
              </a:rPr>
              <a:t>87.5%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3317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E6B6E"/>
                </a:solidFill>
                <a:latin typeface="Calibri"/>
              </a:rPr>
              <a:t>Sensitivity (cancers found)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7335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6F78"/>
                </a:solidFill>
                <a:latin typeface="Cambria"/>
              </a:rPr>
              <a:t>90.9%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E6B6E"/>
                </a:solidFill>
                <a:latin typeface="Calibri"/>
              </a:rPr>
              <a:t>Specificity (benign cleared)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5087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89720" y="167335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8553D"/>
                </a:solidFill>
                <a:latin typeface="Cambria"/>
              </a:rPr>
              <a:t>0.941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3317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E6B6E"/>
                </a:solidFill>
                <a:latin typeface="Calibri"/>
              </a:rPr>
              <a:t>ROC-AUC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54680"/>
            <a:ext cx="5120640" cy="23698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56032" indent="-256032">
              <a:spcAft>
                <a:spcPts val="10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58 of 65 correct </a:t>
            </a:r>
            <a:r>
              <a:rPr b="0" dirty="0">
                <a:solidFill>
                  <a:srgbClr val="222B2E"/>
                </a:solidFill>
                <a:latin typeface="Calibri"/>
              </a:rPr>
              <a:t>(30 benign + 28 malignant).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7 errors: </a:t>
            </a:r>
            <a:r>
              <a:rPr b="0" dirty="0">
                <a:solidFill>
                  <a:srgbClr val="222B2E"/>
                </a:solidFill>
                <a:latin typeface="Calibri"/>
              </a:rPr>
              <a:t>3 benign photos flagged as malignant-like, 4 cancers missed.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Better than scratch: </a:t>
            </a:r>
            <a:r>
              <a:rPr b="0" dirty="0">
                <a:solidFill>
                  <a:srgbClr val="222B2E"/>
                </a:solidFill>
                <a:latin typeface="Calibri"/>
              </a:rPr>
              <a:t>accuracy 66.2% → 89.2%; McNemar p = 0.0007.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But not better than the other pretrained models </a:t>
            </a:r>
            <a:r>
              <a:rPr b="0" dirty="0">
                <a:solidFill>
                  <a:srgbClr val="222B2E"/>
                </a:solidFill>
                <a:latin typeface="Calibri"/>
              </a:rPr>
              <a:t>— differences were small and not significant.</a:t>
            </a:r>
          </a:p>
        </p:txBody>
      </p:sp>
      <p:pic>
        <p:nvPicPr>
          <p:cNvPr id="17" name="Picture 16" descr="fig_test_cm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017520"/>
            <a:ext cx="5029200" cy="371723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26480" y="61996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Test confusion matrices and ROC curves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OralInsight · oral lesion image classification · research prototype, not a diagnostic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3B43"/>
                </a:solidFill>
                <a:latin typeface="Cambria"/>
              </a:rPr>
              <a:t>A hidden shortcut: image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51449"/>
            <a:ext cx="4937760" cy="3000821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56032" indent="-256032">
              <a:spcAft>
                <a:spcPts val="9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Malignant photos were often larger </a:t>
            </a:r>
            <a:r>
              <a:rPr b="0" dirty="0">
                <a:solidFill>
                  <a:srgbClr val="222B2E"/>
                </a:solidFill>
                <a:latin typeface="Calibri"/>
              </a:rPr>
              <a:t>than benign ones in this dataset.</a:t>
            </a:r>
          </a:p>
          <a:p>
            <a:pPr marL="256032" indent="-256032">
              <a:spcAft>
                <a:spcPts val="9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Without care, the model could learn </a:t>
            </a:r>
            <a:r>
              <a:rPr b="0" dirty="0">
                <a:solidFill>
                  <a:srgbClr val="222B2E"/>
                </a:solidFill>
                <a:latin typeface="Calibri"/>
              </a:rPr>
              <a:t>“bigger image = malignant” instead of looking at the lesion.</a:t>
            </a:r>
          </a:p>
          <a:p>
            <a:pPr marL="256032" indent="-256032">
              <a:spcAft>
                <a:spcPts val="9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Test: shrink the same benign photos </a:t>
            </a:r>
            <a:r>
              <a:rPr b="0" dirty="0">
                <a:solidFill>
                  <a:srgbClr val="222B2E"/>
                </a:solidFill>
                <a:latin typeface="Calibri"/>
              </a:rPr>
              <a:t>to 64 pixels and see if the answer flips.</a:t>
            </a:r>
          </a:p>
          <a:p>
            <a:pPr marL="256032" indent="-256032">
              <a:spcAft>
                <a:spcPts val="9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Before the fix: </a:t>
            </a:r>
            <a:r>
              <a:rPr b="0" dirty="0">
                <a:solidFill>
                  <a:srgbClr val="222B2E"/>
                </a:solidFill>
                <a:latin typeface="Calibri"/>
              </a:rPr>
              <a:t>46% of benign images flipped.</a:t>
            </a:r>
          </a:p>
          <a:p>
            <a:pPr marL="256032" indent="-256032">
              <a:spcAft>
                <a:spcPts val="9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After low-resolution training: </a:t>
            </a:r>
            <a:r>
              <a:rPr b="0" dirty="0">
                <a:solidFill>
                  <a:srgbClr val="222B2E"/>
                </a:solidFill>
                <a:latin typeface="Calibri"/>
              </a:rPr>
              <a:t>2%.</a:t>
            </a:r>
          </a:p>
        </p:txBody>
      </p:sp>
      <p:pic>
        <p:nvPicPr>
          <p:cNvPr id="5" name="Picture 4" descr="fig_degradation_probe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00200"/>
            <a:ext cx="5669280" cy="3779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5440680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5E6B6E"/>
                </a:solidFill>
                <a:latin typeface="Calibri"/>
              </a:rPr>
              <a:t>Share of benign predictions that flip to malignant after degrading the image. The selected model is far more stable.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OralInsight · oral lesion image classification · research prototype, not a diagnostic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3B43"/>
                </a:solidFill>
                <a:latin typeface="Cambria"/>
              </a:rPr>
              <a:t>What the heat maps showed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" y="1645920"/>
            <a:ext cx="6675120" cy="367023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56032" indent="-256032">
              <a:spcAft>
                <a:spcPts val="9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Grad-CAM highlights </a:t>
            </a:r>
            <a:r>
              <a:rPr b="0" dirty="0">
                <a:solidFill>
                  <a:srgbClr val="222B2E"/>
                </a:solidFill>
                <a:latin typeface="Calibri"/>
              </a:rPr>
              <a:t>the areas that pushed the decision towards one class.</a:t>
            </a:r>
          </a:p>
          <a:p>
            <a:pPr marL="256032" indent="-256032">
              <a:spcAft>
                <a:spcPts val="9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On correct cases </a:t>
            </a:r>
            <a:r>
              <a:rPr b="0" dirty="0">
                <a:solidFill>
                  <a:srgbClr val="222B2E"/>
                </a:solidFill>
                <a:latin typeface="Calibri"/>
              </a:rPr>
              <a:t>the map often sat on the lesion or nearby tissue.</a:t>
            </a:r>
          </a:p>
          <a:p>
            <a:pPr marL="256032" indent="-256032">
              <a:spcAft>
                <a:spcPts val="9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On mistakes </a:t>
            </a:r>
            <a:r>
              <a:rPr b="0" dirty="0">
                <a:solidFill>
                  <a:srgbClr val="222B2E"/>
                </a:solidFill>
                <a:latin typeface="Calibri"/>
              </a:rPr>
              <a:t>it sometimes focused on teeth, lips, gloves or the image border.</a:t>
            </a:r>
          </a:p>
          <a:p>
            <a:pPr marL="256032" indent="-256032">
              <a:spcAft>
                <a:spcPts val="9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Methods partly agree: </a:t>
            </a:r>
            <a:r>
              <a:rPr b="0" dirty="0">
                <a:solidFill>
                  <a:srgbClr val="222B2E"/>
                </a:solidFill>
                <a:latin typeface="Calibri"/>
              </a:rPr>
              <a:t>86% with Grad-CAM++, only 39% with Integrated Gradients.</a:t>
            </a:r>
          </a:p>
          <a:p>
            <a:pPr marL="256032" indent="-256032">
              <a:spcAft>
                <a:spcPts val="900"/>
              </a:spcAft>
              <a:buChar char="•"/>
            </a:pPr>
            <a:r>
              <a:rPr b="1" dirty="0">
                <a:solidFill>
                  <a:srgbClr val="222B2E"/>
                </a:solidFill>
                <a:latin typeface="Calibri"/>
              </a:rPr>
              <a:t>Deleting the top highlighted pixels </a:t>
            </a:r>
            <a:r>
              <a:rPr b="0" dirty="0">
                <a:solidFill>
                  <a:srgbClr val="222B2E"/>
                </a:solidFill>
                <a:latin typeface="Calibri"/>
              </a:rPr>
              <a:t>changed the score more than deleting random pixels (26% vs 10%).</a:t>
            </a:r>
          </a:p>
          <a:p>
            <a:pPr marL="256032" indent="-256032">
              <a:spcAft>
                <a:spcPts val="900"/>
              </a:spcAft>
              <a:buChar char="•"/>
            </a:pPr>
            <a:r>
              <a:rPr b="1" dirty="0">
                <a:solidFill>
                  <a:srgbClr val="C8553D"/>
                </a:solidFill>
                <a:latin typeface="Calibri"/>
              </a:rPr>
              <a:t>Conclusion: </a:t>
            </a:r>
            <a:r>
              <a:rPr b="0" dirty="0">
                <a:solidFill>
                  <a:srgbClr val="222B2E"/>
                </a:solidFill>
                <a:latin typeface="Calibri"/>
              </a:rPr>
              <a:t>heat maps help us inspect the model, but they are not evidence of clinical reasoning.</a:t>
            </a:r>
          </a:p>
        </p:txBody>
      </p:sp>
      <p:pic>
        <p:nvPicPr>
          <p:cNvPr id="5" name="Picture 4" descr="fig_gradcam_examples_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508760"/>
            <a:ext cx="3337560" cy="36277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5257800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False positives (FP) and false negatives (FN) are shown alongside correct cases.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OralInsight · oral lesion image classification · research prototype, not a diagnostic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3B43"/>
                </a:solidFill>
                <a:latin typeface="Cambria"/>
              </a:rPr>
              <a:t>Research gaps this work points 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8" y="1746504"/>
            <a:ext cx="530352" cy="530352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70078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E3B43"/>
                </a:solidFill>
                <a:latin typeface="Cambria"/>
              </a:rPr>
              <a:t>Leakage-safe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29968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B2E"/>
                </a:solidFill>
                <a:latin typeface="Calibri"/>
              </a:rPr>
              <a:t>Many public benchmarks still train on augmented copies. Papers should report de-leaked scores.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70048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8" y="2862072"/>
            <a:ext cx="530352" cy="530352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8163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E3B43"/>
                </a:solidFill>
                <a:latin typeface="Cambria"/>
              </a:rPr>
              <a:t>Small, single-source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145536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 dirty="0">
                <a:solidFill>
                  <a:srgbClr val="222B2E"/>
                </a:solidFill>
                <a:latin typeface="Calibri"/>
              </a:rPr>
              <a:t>323 photos from one source cannot cover other cameras, populations or lesion types.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85616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977640"/>
            <a:ext cx="530352" cy="530352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9319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 dirty="0">
                <a:solidFill>
                  <a:srgbClr val="0E3B43"/>
                </a:solidFill>
                <a:latin typeface="Cambria"/>
              </a:rPr>
              <a:t>Shortcut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261104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B2E"/>
                </a:solidFill>
                <a:latin typeface="Calibri"/>
              </a:rPr>
              <a:t>Accuracy and heat maps can miss acquisition cues. Degradation tests should be routine.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01184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5093208"/>
            <a:ext cx="530352" cy="530352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4748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 dirty="0">
                <a:solidFill>
                  <a:srgbClr val="0E3B43"/>
                </a:solidFill>
                <a:latin typeface="Cambria"/>
              </a:rPr>
              <a:t>Validating explanations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3766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B2E"/>
                </a:solidFill>
                <a:latin typeface="Calibri"/>
              </a:rPr>
              <a:t>Heat maps are usually shown, not tested. We need quantitative checks and clinician readers.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OralInsight · oral lesion image classification · research prototype, not a diagnostic 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3B43"/>
                </a:solidFill>
                <a:latin typeface="Cambria"/>
              </a:rPr>
              <a:t>Limitations and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49240" cy="4526280"/>
          </a:xfrm>
          <a:prstGeom prst="roundRect">
            <a:avLst>
              <a:gd name="adj" fmla="val 6000"/>
            </a:avLst>
          </a:prstGeom>
          <a:solidFill>
            <a:srgbClr val="FA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 dirty="0">
                <a:solidFill>
                  <a:srgbClr val="C8553D"/>
                </a:solidFill>
                <a:latin typeface="Cambria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429185"/>
            <a:ext cx="4800600" cy="3226524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b="0" dirty="0">
                <a:solidFill>
                  <a:srgbClr val="222B2E"/>
                </a:solidFill>
                <a:latin typeface="Calibri"/>
              </a:rPr>
              <a:t>One small public dataset from a single source; no external test.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b="0" dirty="0">
                <a:solidFill>
                  <a:srgbClr val="222B2E"/>
                </a:solidFill>
                <a:latin typeface="Calibri"/>
              </a:rPr>
              <a:t>Two classes only — no healthy controls, no OPMD subtypes.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b="0" dirty="0">
                <a:solidFill>
                  <a:srgbClr val="222B2E"/>
                </a:solidFill>
                <a:latin typeface="Calibri"/>
              </a:rPr>
              <a:t>No patient metadata (age, sex, habits, lesion site) or biopsy results.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b="0" dirty="0">
                <a:solidFill>
                  <a:srgbClr val="222B2E"/>
                </a:solidFill>
                <a:latin typeface="Calibri"/>
              </a:rPr>
              <a:t>Not clinically validated; no reader study with dentists or doctors.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b="0" dirty="0">
                <a:solidFill>
                  <a:srgbClr val="222B2E"/>
                </a:solidFill>
                <a:latin typeface="Calibri"/>
              </a:rPr>
              <a:t>Prototype runs on a CPU and is for research use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349240" cy="452628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463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 dirty="0">
                <a:solidFill>
                  <a:srgbClr val="1F6F78"/>
                </a:solidFill>
                <a:latin typeface="Cambria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429185"/>
            <a:ext cx="4800600" cy="3226524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b="0" dirty="0">
                <a:solidFill>
                  <a:srgbClr val="222B2E"/>
                </a:solidFill>
                <a:latin typeface="Calibri"/>
              </a:rPr>
              <a:t>External and multi-</a:t>
            </a:r>
            <a:r>
              <a:rPr b="0" dirty="0" err="1">
                <a:solidFill>
                  <a:srgbClr val="222B2E"/>
                </a:solidFill>
                <a:latin typeface="Calibri"/>
              </a:rPr>
              <a:t>centre</a:t>
            </a:r>
            <a:r>
              <a:rPr b="0" dirty="0">
                <a:solidFill>
                  <a:srgbClr val="222B2E"/>
                </a:solidFill>
                <a:latin typeface="Calibri"/>
              </a:rPr>
              <a:t> validation with new cameras and populations.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b="0" dirty="0">
                <a:solidFill>
                  <a:srgbClr val="222B2E"/>
                </a:solidFill>
                <a:latin typeface="Calibri"/>
              </a:rPr>
              <a:t>Add healthy and OPMD classes; link labels to histology.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b="0" dirty="0">
                <a:solidFill>
                  <a:srgbClr val="222B2E"/>
                </a:solidFill>
                <a:latin typeface="Calibri"/>
              </a:rPr>
              <a:t>Lesion annotations and attention-guided training.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b="0" dirty="0">
                <a:solidFill>
                  <a:srgbClr val="222B2E"/>
                </a:solidFill>
                <a:latin typeface="Calibri"/>
              </a:rPr>
              <a:t>Calibrated probabilities and clinically chosen referral thresholds.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b="0" dirty="0">
                <a:solidFill>
                  <a:srgbClr val="222B2E"/>
                </a:solidFill>
                <a:latin typeface="Calibri"/>
              </a:rPr>
              <a:t>Ethics-approved reader study before any real-world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OralInsight · oral lesion image classification · research prototype, not a diagnostic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5E6B6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60031E8-8730-8E62-6550-370346530A7F}"/>
              </a:ext>
            </a:extLst>
          </p:cNvPr>
          <p:cNvSpPr txBox="1"/>
          <p:nvPr/>
        </p:nvSpPr>
        <p:spPr>
          <a:xfrm>
            <a:off x="4218432" y="2244745"/>
            <a:ext cx="7973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endParaRPr lang="en-IN" sz="5400" b="1" dirty="0">
              <a:solidFill>
                <a:schemeClr val="bg1"/>
              </a:solidFill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7D2145E0-A92D-73BA-A6F6-DD2551183960}"/>
              </a:ext>
            </a:extLst>
          </p:cNvPr>
          <p:cNvSpPr txBox="1"/>
          <p:nvPr/>
        </p:nvSpPr>
        <p:spPr>
          <a:xfrm>
            <a:off x="8999982" y="4128516"/>
            <a:ext cx="10607040" cy="61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500"/>
              </a:spcAft>
            </a:pPr>
            <a:r>
              <a:rPr b="1" i="0" dirty="0" err="1">
                <a:solidFill>
                  <a:srgbClr val="FFFFFF"/>
                </a:solidFill>
                <a:latin typeface="Calibri"/>
              </a:rPr>
              <a:t>Annareddy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 Sai </a:t>
            </a:r>
            <a:r>
              <a:rPr lang="en-US" b="1" i="0" dirty="0">
                <a:solidFill>
                  <a:srgbClr val="FFFFFF"/>
                </a:solidFill>
                <a:latin typeface="Calibri"/>
              </a:rPr>
              <a:t>Prathima</a:t>
            </a:r>
            <a:endParaRPr b="0" i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b="1" i="0" dirty="0">
                <a:solidFill>
                  <a:srgbClr val="FFFFFF"/>
                </a:solidFill>
                <a:latin typeface="Calibri"/>
              </a:rPr>
              <a:t>Manya Aghi</a:t>
            </a:r>
            <a:endParaRPr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1686</Words>
  <Application>Microsoft Office PowerPoint</Application>
  <PresentationFormat>Widescreen</PresentationFormat>
  <Paragraphs>160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Prathima Anna Reddy</cp:lastModifiedBy>
  <cp:revision>1</cp:revision>
  <dcterms:created xsi:type="dcterms:W3CDTF">2013-01-27T09:14:16Z</dcterms:created>
  <dcterms:modified xsi:type="dcterms:W3CDTF">2026-10-26T19:18:05Z</dcterms:modified>
  <cp:category/>
</cp:coreProperties>
</file>