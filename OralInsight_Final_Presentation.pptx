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ima Anna Reddy" userId="0c1b02946f094dea" providerId="LiveId" clId="{AD7109EC-1AC8-40AF-9E2D-2E6AF3882D54}"/>
    <pc:docChg chg="undo custSel modSld">
      <pc:chgData name="Prathima Anna Reddy" userId="0c1b02946f094dea" providerId="LiveId" clId="{AD7109EC-1AC8-40AF-9E2D-2E6AF3882D54}" dt="2026-10-16T04:18:15.088" v="197" actId="20577"/>
      <pc:docMkLst>
        <pc:docMk/>
      </pc:docMkLst>
      <pc:sldChg chg="modSp mod">
        <pc:chgData name="Prathima Anna Reddy" userId="0c1b02946f094dea" providerId="LiveId" clId="{AD7109EC-1AC8-40AF-9E2D-2E6AF3882D54}" dt="2026-10-16T04:18:15.088" v="197" actId="20577"/>
        <pc:sldMkLst>
          <pc:docMk/>
          <pc:sldMk cId="0" sldId="256"/>
        </pc:sldMkLst>
        <pc:spChg chg="mod">
          <ac:chgData name="Prathima Anna Reddy" userId="0c1b02946f094dea" providerId="LiveId" clId="{AD7109EC-1AC8-40AF-9E2D-2E6AF3882D54}" dt="2026-10-16T04:18:15.088" v="197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22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project: an eight-week study classifying clinical photographs of oral lesions as benign or malignant, with explainability and a working prototype. Emphasise from the start that this is a research prototype, not a diagnostic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Clinical motivation and the problem with existing evidence. Numbers come from the verified literature matrix (Fu et al. 2020; Talwar et al. 2023; Saldivia-Siracusa et al. 2025) and the IARC fact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Each gap is mapped to papers in RESEARCH_GAP_EVIDENCE.md. We explicitly did NOT claim gaps the literature does not support, e.g. 'no prototypes exist' (two papers built apps).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323 files hash-verified. Malignant photos are smaller (median 0.18 vs 0.40 MP) and camera models differ by class — a shortcut risk we test later. Test split fixed before any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Islam et al. (2023) trained on the dataset's augmented folder and tested on originals, reporting 100%. We reproduced 100%, and showed it collapses to ~79% when only the copies of the evaluation images are removed, while a random removal of the same size keeps ~98%. Answers gap G1.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steps are scripts in src/. CPU-only laptop. Mention the documented protocol revision: early stopping on validation loss restored epoch-1 weights because the loss on 52 images was too noisy.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Fold-to-fold SD (0.05-0.07) is bigger than model differences, so the pre-registered rule picked the lightest model. The from-scratch baseline is clearly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finding. Accuracy could not separate configurations; asking why the model failed could. Be honest that the augmentation removes sensitivity to blur but not the underlying confound (rho = -0.53).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 honestly: clearly better than training from scratch, but not demonstrably better than the untuned pretrained models. The CV estimate is the conservative expectation.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Grad-CAM, Grad-CAM++ and Integrated Gradients; randomisation sanity check passed (rho 0.09). Without lesion masks we cannot measure clinical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 here if time permits (RUN_PROTOTYPE.md). Show one correct case and the benign/101 false positive to illustrate that the app cannot tell when it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explicit: no clinical claim can be made from this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supervisor;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OralInsight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FE3E5"/>
                </a:solidFill>
                <a:latin typeface="Calibri"/>
              </a:rPr>
              <a:t>Explainable AI for Oral Lesion Screening — a leakage-controlled benchmark and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515600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i="0" dirty="0" err="1">
                <a:solidFill>
                  <a:srgbClr val="FFFFFF"/>
                </a:solidFill>
                <a:latin typeface="Calibri"/>
              </a:rPr>
              <a:t>Annareddy</a:t>
            </a:r>
            <a:r>
              <a:rPr lang="en-US"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600" b="0" i="0">
                <a:solidFill>
                  <a:srgbClr val="FFFFFF"/>
                </a:solidFill>
                <a:latin typeface="Calibri"/>
              </a:rPr>
              <a:t>Sai Prathima 2430010176</a:t>
            </a:r>
            <a:endParaRPr lang="en-US" sz="1600" b="0" i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FFFFFF"/>
                </a:solidFill>
                <a:latin typeface="Calibri"/>
              </a:rPr>
              <a:t>Manya Aghi - 2430010231</a:t>
            </a:r>
            <a:endParaRPr lang="en-IN" sz="16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Why oral lesion screening needs better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931920" cy="448056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4747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553D"/>
                </a:solidFill>
                <a:latin typeface="Cambria"/>
              </a:rPr>
              <a:t>180,162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9631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estimated new lip and oral-cavity cancers in men, WHO South-East Asia (GLOBOCAN 2024) — the most common cancer in men in the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B2E"/>
                </a:solidFill>
                <a:latin typeface="Calibri"/>
              </a:rPr>
              <a:t>Many cancers develop from visible oral potentially malignant disorders, yet benign lesions, OPMD and early carcinoma look alike to non-specialists.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6675120" cy="448056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700" b="1">
                <a:solidFill>
                  <a:srgbClr val="222B2E"/>
                </a:solidFill>
                <a:latin typeface="Calibri"/>
              </a:rPr>
              <a:t>Deep learning on photographs </a:t>
            </a:r>
            <a:r>
              <a:rPr sz="1700" b="0">
                <a:solidFill>
                  <a:srgbClr val="222B2E"/>
                </a:solidFill>
                <a:latin typeface="Calibri"/>
              </a:rPr>
              <a:t>reports AUCs of 0.86–1.00 in the reviewed studies, but…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700" b="1">
                <a:solidFill>
                  <a:srgbClr val="222B2E"/>
                </a:solidFill>
                <a:latin typeface="Calibri"/>
              </a:rPr>
              <a:t>Public datasets are tiny and scarce; </a:t>
            </a:r>
            <a:r>
              <a:rPr sz="1700" b="0">
                <a:solidFill>
                  <a:srgbClr val="222B2E"/>
                </a:solidFill>
                <a:latin typeface="Calibri"/>
              </a:rPr>
              <a:t>the larger ones are restricted-access.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700" b="1">
                <a:solidFill>
                  <a:srgbClr val="222B2E"/>
                </a:solidFill>
                <a:latin typeface="Calibri"/>
              </a:rPr>
              <a:t>Some 96–100% results </a:t>
            </a:r>
            <a:r>
              <a:rPr sz="1700" b="0">
                <a:solidFill>
                  <a:srgbClr val="222B2E"/>
                </a:solidFill>
                <a:latin typeface="Calibri"/>
              </a:rPr>
              <a:t>come from protocols where augmented copies of test images may be in training.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700" b="1">
                <a:solidFill>
                  <a:srgbClr val="222B2E"/>
                </a:solidFill>
                <a:latin typeface="Calibri"/>
              </a:rPr>
              <a:t>Performance drops </a:t>
            </a:r>
            <a:r>
              <a:rPr sz="1700" b="0">
                <a:solidFill>
                  <a:srgbClr val="222B2E"/>
                </a:solidFill>
                <a:latin typeface="Calibri"/>
              </a:rPr>
              <a:t>on images from other sources (e.g. AUC 0.983 → 0.935; F1 0.84 → 0.73).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700" b="1">
                <a:solidFill>
                  <a:srgbClr val="222B2E"/>
                </a:solidFill>
                <a:latin typeface="Calibri"/>
              </a:rPr>
              <a:t>Heat maps are rarely checked on failures, </a:t>
            </a:r>
            <a:r>
              <a:rPr sz="1700" b="0">
                <a:solidFill>
                  <a:srgbClr val="222B2E"/>
                </a:solidFill>
                <a:latin typeface="Calibri"/>
              </a:rPr>
              <a:t>and sometimes highlight teeth or gloves instead of lesions.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Four evidence-based research gaps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20 verified papers (Crossref/DataCite) → gaps traced to specific studies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075688"/>
            <a:ext cx="566928" cy="566928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G1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57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43"/>
                </a:solidFill>
                <a:latin typeface="Cambria"/>
              </a:rPr>
              <a:t>Leakage-prone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60604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Augmented copies in training / unclear split order (Islam 2023; Yadav 2025; Liu &amp; Bagi 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46520" y="2075688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G2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57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43"/>
                </a:solidFill>
                <a:latin typeface="Cambria"/>
              </a:rPr>
              <a:t>Little external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60604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Drops on new image sources (Fu 2020; Talwar 2023; Camalan 2021)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4315968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97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43"/>
                </a:solidFill>
                <a:latin typeface="Cambria"/>
              </a:rPr>
              <a:t>XAI missing or only on successes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4632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Off-lesion attention when checked (Saldivia-Siracusa 2025; Figueroa 2022)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6520" y="4315968"/>
            <a:ext cx="566928" cy="566928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G4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2976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3B43"/>
                </a:solidFill>
                <a:latin typeface="Cambria"/>
              </a:rPr>
              <a:t>Few CIs, little error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Single point estimates common; errors rarely studied (Gomes 2024)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21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Dataset: open, balanced — and acquisition-biased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Mendeley Oral Images Dataset (Chandrashekar et al., CC BY 4.0, doi:10.17632/mhjyrn35p4.2)</a:t>
            </a:r>
          </a:p>
        </p:txBody>
      </p:sp>
      <p:pic>
        <p:nvPicPr>
          <p:cNvPr id="4" name="Figure dataset" descr="fig_class_distribution_di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035040" cy="30612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69164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3B43"/>
                </a:solidFill>
                <a:latin typeface="Cambria"/>
              </a:rPr>
              <a:t>323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40487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original photographs
165 benign · 158 malignant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6916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3B43"/>
                </a:solidFill>
                <a:latin typeface="Cambria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40487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near-duplicate groups (30 images) kept in one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324612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8553D"/>
                </a:solidFill>
                <a:latin typeface="Cambria"/>
              </a:rPr>
              <a:t>0.78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9593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AUC from file metadata alone (size, EXIF, JPEG)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24612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E3B43"/>
                </a:solidFill>
                <a:latin typeface="Cambria"/>
              </a:rPr>
              <a:t>65 / 258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95935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held-out test / development (5 group folds)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89204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E6B6E"/>
                </a:solidFill>
                <a:latin typeface="Calibri"/>
              </a:rPr>
              <a:t>Selected over 6 alternatives: the two largest datasets are restricted-access; others are web-sourced, unlicensed or histopathology.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The published 100% is a leakage artefact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Replication on 52 original images (development fold 0)</a:t>
            </a:r>
          </a:p>
        </p:txBody>
      </p:sp>
      <p:pic>
        <p:nvPicPr>
          <p:cNvPr id="4" name="Figure leakage" descr="fig_leakage_exper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400800" cy="40816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691640"/>
            <a:ext cx="4251960" cy="429768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26679" y="19202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3B43"/>
                </a:solidFill>
                <a:latin typeface="Cambria"/>
              </a:rPr>
              <a:t>Audit of the augmented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468880"/>
            <a:ext cx="3703320" cy="34747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322 / 323 originals have a near-identical augmented copy; 39 / 40 visually confirmed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Train on all augmented: </a:t>
            </a:r>
            <a:r>
              <a:rPr sz="1500" b="1">
                <a:solidFill>
                  <a:srgbClr val="C8553D"/>
                </a:solidFill>
                <a:latin typeface="Calibri"/>
              </a:rPr>
              <a:t>1.000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Remove copies of eval. images: </a:t>
            </a:r>
            <a:r>
              <a:rPr sz="1500" b="1">
                <a:solidFill>
                  <a:srgbClr val="1F6F78"/>
                </a:solidFill>
                <a:latin typeface="Calibri"/>
              </a:rPr>
              <a:t>0.788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Same-size random subset: </a:t>
            </a:r>
            <a:r>
              <a:rPr sz="1500" b="1">
                <a:solidFill>
                  <a:srgbClr val="222B2E"/>
                </a:solidFill>
                <a:latin typeface="Calibri"/>
              </a:rPr>
              <a:t>0.981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→ it is the copies, not the training-set size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Leakage-controlled methodology</a:t>
            </a:r>
          </a:p>
        </p:txBody>
      </p:sp>
      <p:pic>
        <p:nvPicPr>
          <p:cNvPr id="3" name="Figure workflow" descr="fig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7589520" cy="3478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463040"/>
            <a:ext cx="3200400" cy="4572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Group-aware split; test used once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On-the-fly augmentation, train only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Baseline CNN vs MobileNetV3-L, EfficientNet-B0, ResNet-50 (ImageNet, fully fine-tuned)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15-epoch cosine schedule (early stopping on noisy val. loss abandoned)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Pre-registered selection: macro-F1 → AUC → compute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Transfer learning wins; architectures tie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5-fold cross-validation on 258 development images (mean ± SD)</a:t>
            </a:r>
          </a:p>
        </p:txBody>
      </p:sp>
      <p:pic>
        <p:nvPicPr>
          <p:cNvPr id="4" name="Figure comparison" descr="fig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768096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600200"/>
            <a:ext cx="3154680" cy="434340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783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3B43"/>
                </a:solidFill>
                <a:latin typeface="Cambria"/>
              </a:rPr>
              <a:t>CV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2860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Baseline 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22860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22B2E"/>
                </a:solidFill>
                <a:latin typeface="Calibri"/>
              </a:rPr>
              <a:t>0.617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7889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MobileNetV3-L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278892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C8553D"/>
                </a:solidFill>
                <a:latin typeface="Calibri"/>
              </a:rPr>
              <a:t>0.829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2918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EfficientNet-B0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329184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22B2E"/>
                </a:solidFill>
                <a:latin typeface="Calibri"/>
              </a:rPr>
              <a:t>0.809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794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2E"/>
                </a:solidFill>
                <a:latin typeface="Calibri"/>
              </a:rPr>
              <a:t>ResNet-50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379476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 i="0">
                <a:solidFill>
                  <a:srgbClr val="222B2E"/>
                </a:solidFill>
                <a:latin typeface="Calibri"/>
              </a:rPr>
              <a:t>0.836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434840"/>
            <a:ext cx="2697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6E"/>
                </a:solidFill>
                <a:latin typeface="Calibri"/>
              </a:rPr>
              <a:t>All three within 1 SD → cheapest selected: MobileNetV3-L (0.22 vs 4.1 GFLOPs)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Error analysis exposed a resolution shortcut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Out-of-fold counterfactual probe: degrade correctly classified benign photos</a:t>
            </a:r>
          </a:p>
        </p:txBody>
      </p:sp>
      <p:pic>
        <p:nvPicPr>
          <p:cNvPr id="4" name="Figure shortcut" descr="fig_degradation_probe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30936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73736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C8553D"/>
                </a:solidFill>
                <a:latin typeface="Cambria"/>
              </a:rPr>
              <a:t>46%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45059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benign flipped to malignant after down-sampling (Week 4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1F6F78"/>
                </a:solidFill>
                <a:latin typeface="Cambria"/>
              </a:rPr>
              <a:t>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450592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after resolution-degradation augmentation (final)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429000"/>
            <a:ext cx="4343400" cy="256032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rgbClr val="222B2E"/>
                </a:solidFill>
                <a:latin typeface="Calibri"/>
              </a:rPr>
              <a:t>Malignant photos in this dataset are smaller and blurrier → the network learned 'blurry ⇒ malignant'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rgbClr val="222B2E"/>
                </a:solidFill>
                <a:latin typeface="Calibri"/>
              </a:rPr>
              <a:t>14 tuned variants all tied on accuracy; robustness decided the winner (E13)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rgbClr val="222B2E"/>
                </a:solidFill>
                <a:latin typeface="Calibri"/>
              </a:rPr>
              <a:t>Residual correlation with resolution remains — a dataset confound only external data can fix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11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Held-out test set: one evaluation, 65 images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Final model: tuned MobileNetV3-Large (E13), threshold 0.5, 95% bootstrap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E3B43"/>
                </a:solidFill>
                <a:latin typeface="Cambria"/>
              </a:rPr>
              <a:t>0.892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05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accuracy
[0.82–0.95]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73736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E3B43"/>
                </a:solidFill>
                <a:latin typeface="Cambria"/>
              </a:rPr>
              <a:t>0.875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4505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sensitivity
[0.75–0.97]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73736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E3B43"/>
                </a:solidFill>
                <a:latin typeface="Cambria"/>
              </a:rPr>
              <a:t>0.909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24505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specificity
[0.79–1.00]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199" y="1737360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E3B43"/>
                </a:solidFill>
                <a:latin typeface="Cambria"/>
              </a:rPr>
              <a:t>0.941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199" y="24505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E6B6E"/>
                </a:solidFill>
                <a:latin typeface="Calibri"/>
              </a:rPr>
              <a:t>ROC-AUC
[0.87–0.99]</a:t>
            </a:r>
          </a:p>
        </p:txBody>
      </p:sp>
      <p:pic>
        <p:nvPicPr>
          <p:cNvPr id="12" name="Figure test" descr="fig_test_cm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691640"/>
            <a:ext cx="4023360" cy="29737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3429000"/>
            <a:ext cx="6858000" cy="27432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vs baseline CNN: </a:t>
            </a:r>
            <a:r>
              <a:rPr sz="1600" b="0">
                <a:solidFill>
                  <a:srgbClr val="222B2E"/>
                </a:solidFill>
                <a:latin typeface="Calibri"/>
              </a:rPr>
              <a:t>McNemar p = 0.0007; ΔAUC +0.176 [0.063, 0.292]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vs other pretrained models: </a:t>
            </a:r>
            <a:r>
              <a:rPr sz="1600" b="0">
                <a:solidFill>
                  <a:srgbClr val="222B2E"/>
                </a:solidFill>
                <a:latin typeface="Calibri"/>
              </a:rPr>
              <a:t>no significant difference (all p ≥ 0.39)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Test &gt; CV estimate </a:t>
            </a:r>
            <a:r>
              <a:rPr sz="1600" b="0">
                <a:solidFill>
                  <a:srgbClr val="222B2E"/>
                </a:solidFill>
                <a:latin typeface="Calibri"/>
              </a:rPr>
              <a:t>(0.810 ± 0.032) — expect the CV value; 65 images give wide CIs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0">
                <a:solidFill>
                  <a:srgbClr val="222B2E"/>
                </a:solidFill>
                <a:latin typeface="Calibri"/>
              </a:rPr>
              <a:t>4 of 32 malignant and 3 of 33 benign photos misclassified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What the model looks at (Grad-CAM)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Out-of-fold explanations for all 258 development images; checks passed</a:t>
            </a:r>
          </a:p>
        </p:txBody>
      </p:sp>
      <p:pic>
        <p:nvPicPr>
          <p:cNvPr id="4" name="Figure gradcam" descr="fig_gradcam_examples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458614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600200"/>
            <a:ext cx="6172200" cy="329184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Correct malignant: </a:t>
            </a:r>
            <a:r>
              <a:rPr sz="1600" b="0">
                <a:solidFill>
                  <a:srgbClr val="222B2E"/>
                </a:solidFill>
                <a:latin typeface="Calibri"/>
              </a:rPr>
              <a:t>attention on the discoloured mucosa filling the frame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False positives: </a:t>
            </a:r>
            <a:r>
              <a:rPr sz="1600" b="0">
                <a:solidFill>
                  <a:srgbClr val="222B2E"/>
                </a:solidFill>
                <a:latin typeface="Calibri"/>
              </a:rPr>
              <a:t>stained teeth, calculus, restorations — off-lesion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False negatives: </a:t>
            </a:r>
            <a:r>
              <a:rPr sz="1600" b="0">
                <a:solidFill>
                  <a:srgbClr val="222B2E"/>
                </a:solidFill>
                <a:latin typeface="Calibri"/>
              </a:rPr>
              <a:t>peripheral attention, misses small central changes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rgbClr val="222B2E"/>
                </a:solidFill>
                <a:latin typeface="Calibri"/>
              </a:rPr>
              <a:t>Faithful but coarse: </a:t>
            </a:r>
            <a:r>
              <a:rPr sz="1600" b="0">
                <a:solidFill>
                  <a:srgbClr val="222B2E"/>
                </a:solidFill>
                <a:latin typeface="Calibri"/>
              </a:rPr>
              <a:t>deleting top-20% pixels drops P by 0.26 vs 0.10 random; 7×7 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4983480"/>
            <a:ext cx="6172200" cy="1051560"/>
          </a:xfrm>
          <a:prstGeom prst="roundRect">
            <a:avLst>
              <a:gd name="adj" fmla="val 6000"/>
            </a:avLst>
          </a:prstGeom>
          <a:solidFill>
            <a:srgbClr val="FBE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0" y="512064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8553D"/>
                </a:solidFill>
                <a:latin typeface="Calibri"/>
              </a:rPr>
              <a:t>Heat maps show model attention, not lesion location or clinical evidence.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OralInsight research prototype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E6B6E"/>
                </a:solidFill>
                <a:latin typeface="Calibri"/>
              </a:rPr>
              <a:t>streamlit run prototype/app.py</a:t>
            </a:r>
          </a:p>
        </p:txBody>
      </p:sp>
      <p:pic>
        <p:nvPicPr>
          <p:cNvPr id="4" name="Figure prototype" descr="fig_proto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675120" cy="469761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680960" y="155448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6459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E"/>
                </a:solidFill>
                <a:latin typeface="Calibri"/>
              </a:rPr>
              <a:t>Upload photo</a:t>
            </a:r>
          </a:p>
        </p:txBody>
      </p:sp>
      <p:sp>
        <p:nvSpPr>
          <p:cNvPr id="7" name="Oval 6"/>
          <p:cNvSpPr/>
          <p:nvPr/>
        </p:nvSpPr>
        <p:spPr>
          <a:xfrm>
            <a:off x="7680960" y="233172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231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E"/>
                </a:solidFill>
                <a:latin typeface="Calibri"/>
              </a:rPr>
              <a:t>Same preprocessing as training</a:t>
            </a:r>
          </a:p>
        </p:txBody>
      </p:sp>
      <p:sp>
        <p:nvSpPr>
          <p:cNvPr id="9" name="Oval 8"/>
          <p:cNvSpPr/>
          <p:nvPr/>
        </p:nvSpPr>
        <p:spPr>
          <a:xfrm>
            <a:off x="7680960" y="310896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200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E"/>
                </a:solidFill>
                <a:latin typeface="Calibri"/>
              </a:rPr>
              <a:t>Prediction + probability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7680960" y="388620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9776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E"/>
                </a:solidFill>
                <a:latin typeface="Calibri"/>
              </a:rPr>
              <a:t>Grad-CAM overlay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466344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7548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22B2E"/>
                </a:solidFill>
                <a:latin typeface="Calibri"/>
              </a:rPr>
              <a:t>Disclaimer + low-confidence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532120"/>
            <a:ext cx="4023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E6B6E"/>
                </a:solidFill>
                <a:latin typeface="Calibri"/>
              </a:rPr>
              <a:t>Verified: identical to the evaluation on all 65 test images; 0.15 s per image on CPU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3B43"/>
                </a:solidFill>
                <a:latin typeface="Cambria"/>
              </a:rPr>
              <a:t>Limitations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C8553D"/>
                </a:solidFill>
                <a:latin typeface="Cambria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892040" cy="374903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323 photos, one region, one source; no external validation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Labels from folders; no patient IDs or histopathology info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Acquisition confound (resolution, camera) not fully removable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Confident errors; probabilities poorly calibrated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XAI coarse; no lesion masks; no demographics for fairness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40680" cy="4663440"/>
          </a:xfrm>
          <a:prstGeom prst="roundRect">
            <a:avLst>
              <a:gd name="adj" fmla="val 6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6F78"/>
                </a:solidFill>
                <a:latin typeface="Cambria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94560"/>
            <a:ext cx="4892040" cy="3749039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External validation on restricted datasets (data-use agreement)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Device-stratified reporting and acquisition harmonisation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Lesion annotations → attention-guided training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OPMD sub-classes and calibrated referral thresholds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rgbClr val="222B2E"/>
                </a:solidFill>
                <a:latin typeface="Calibri"/>
              </a:rPr>
              <a:t>Ethics-approved reader study with clinicians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OralInsight · Explainable AI for Oral Lesion Screening · research prototype, not a diagnostic tool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0972800" y="64190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E6B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Take-home messages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039112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Leakage explains the 100% reported for this dataset (1.00 → 0.79 without copies)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990088"/>
            <a:ext cx="548640" cy="548640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306324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Leakage-free test accuracy 0.892, AUC 0.941 — better than scratch, tied with other pretrained CNNs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014216"/>
            <a:ext cx="548640" cy="548640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087368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Error analysis + counterfactuals found a resolution shortcut that accuracy and heat maps missed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038344"/>
            <a:ext cx="548640" cy="548640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111496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verified research prototype — not a diagnostic tool; external &amp; clinical validation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FE3E5"/>
                </a:solidFill>
                <a:latin typeface="Calibri"/>
              </a:rPr>
              <a:t>Code, data card, results and paper: OralInsight/ (see FINAL_DELIVERABLES.md)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1620</Words>
  <Application>Microsoft Office PowerPoint</Application>
  <PresentationFormat>Widescreen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Prathima Anna Reddy</cp:lastModifiedBy>
  <cp:revision>1</cp:revision>
  <dcterms:created xsi:type="dcterms:W3CDTF">2013-01-27T09:14:16Z</dcterms:created>
  <dcterms:modified xsi:type="dcterms:W3CDTF">2026-10-16T04:18:15Z</dcterms:modified>
  <cp:category/>
</cp:coreProperties>
</file>